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4"/>
    <p:sldMasterId id="2147483660" r:id="rId5"/>
  </p:sldMasterIdLst>
  <p:notesMasterIdLst>
    <p:notesMasterId r:id="rId19"/>
  </p:notesMasterIdLst>
  <p:sldIdLst>
    <p:sldId id="268" r:id="rId6"/>
    <p:sldId id="270" r:id="rId7"/>
    <p:sldId id="271" r:id="rId8"/>
    <p:sldId id="341" r:id="rId9"/>
    <p:sldId id="343" r:id="rId10"/>
    <p:sldId id="344" r:id="rId11"/>
    <p:sldId id="345" r:id="rId12"/>
    <p:sldId id="346" r:id="rId13"/>
    <p:sldId id="348" r:id="rId14"/>
    <p:sldId id="349" r:id="rId15"/>
    <p:sldId id="350" r:id="rId16"/>
    <p:sldId id="351" r:id="rId17"/>
    <p:sldId id="272" r:id="rId18"/>
  </p:sldIdLst>
  <p:sldSz cx="12192000" cy="6858000"/>
  <p:notesSz cx="6858000" cy="9144000"/>
  <p:embeddedFontLst>
    <p:embeddedFont>
      <p:font typeface="DiN" panose="020B0604020202020204"/>
      <p:regular r:id="rId20"/>
    </p:embeddedFont>
    <p:embeddedFont>
      <p:font typeface="Gobold" panose="020B0604020202020204" charset="0"/>
      <p:regular r:id="rId21"/>
      <p:italic r:id="rId22"/>
    </p:embeddedFont>
    <p:embeddedFont>
      <p:font typeface="Raleway" pitchFamily="2" charset="0"/>
      <p:regular r:id="rId23"/>
      <p:bold r:id="rId24"/>
      <p:italic r:id="rId25"/>
      <p:boldItalic r:id="rId26"/>
    </p:embeddedFont>
  </p:embeddedFontLst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CCEDA"/>
    <a:srgbClr val="ED146B"/>
    <a:srgbClr val="04ECAB"/>
    <a:srgbClr val="323E56"/>
    <a:srgbClr val="EDEFF0"/>
    <a:srgbClr val="4356A5"/>
    <a:srgbClr val="03EDAD"/>
    <a:srgbClr val="374567"/>
    <a:srgbClr val="E3E3E3"/>
    <a:srgbClr val="2C28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Estilo com Tema 2 - Ênfase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47" autoAdjust="0"/>
    <p:restoredTop sz="94660"/>
  </p:normalViewPr>
  <p:slideViewPr>
    <p:cSldViewPr snapToGrid="0">
      <p:cViewPr varScale="1">
        <p:scale>
          <a:sx n="69" d="100"/>
          <a:sy n="69" d="100"/>
        </p:scale>
        <p:origin x="77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font" Target="fonts/font7.fntdata"/><Relationship Id="rId3" Type="http://schemas.openxmlformats.org/officeDocument/2006/relationships/customXml" Target="../customXml/item3.xml"/><Relationship Id="rId21" Type="http://schemas.openxmlformats.org/officeDocument/2006/relationships/font" Target="fonts/font2.fntdata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font" Target="fonts/font6.fntdata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font" Target="fonts/font1.fntdata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font" Target="fonts/font5.fntdata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font" Target="fonts/font4.fntdata"/><Relationship Id="rId28" Type="http://schemas.openxmlformats.org/officeDocument/2006/relationships/viewProps" Target="viewProps.xml"/><Relationship Id="rId10" Type="http://schemas.openxmlformats.org/officeDocument/2006/relationships/slide" Target="slides/slide5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font" Target="fonts/font3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437D81-BE31-43A4-8A88-27D890376FEC}" type="datetimeFigureOut">
              <a:rPr lang="pt-BR" smtClean="0"/>
              <a:t>15/04/2024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68060B-D40B-4B05-8E97-B27BA3486E4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83937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>
            <a:extLst>
              <a:ext uri="{FF2B5EF4-FFF2-40B4-BE49-F238E27FC236}">
                <a16:creationId xmlns:a16="http://schemas.microsoft.com/office/drawing/2014/main" id="{F019FB7B-112D-5EE1-7FA1-4D0C8EE0836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825"/>
            <a:ext cx="1219200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403C58E-C6ED-EFB7-AE68-E86118A215C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636475" y="857540"/>
            <a:ext cx="4439261" cy="454025"/>
          </a:xfrm>
        </p:spPr>
        <p:txBody>
          <a:bodyPr anchor="t">
            <a:noAutofit/>
          </a:bodyPr>
          <a:lstStyle>
            <a:lvl1pPr algn="l">
              <a:defRPr sz="2800" b="1">
                <a:solidFill>
                  <a:schemeClr val="bg1"/>
                </a:solidFill>
                <a:latin typeface="Gobold" panose="02000500000000000000"/>
              </a:defRPr>
            </a:lvl1pPr>
          </a:lstStyle>
          <a:p>
            <a:r>
              <a:rPr lang="pt-BR" dirty="0"/>
              <a:t>TÍTULO DO PROJETO</a:t>
            </a:r>
            <a:endParaRPr lang="pt-PT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06B532C-0613-1CD4-6F25-60231241A27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636475" y="1273418"/>
            <a:ext cx="4438800" cy="661310"/>
          </a:xfrm>
        </p:spPr>
        <p:txBody>
          <a:bodyPr>
            <a:noAutofit/>
          </a:bodyPr>
          <a:lstStyle>
            <a:lvl1pPr marL="0" indent="0" algn="l">
              <a:buNone/>
              <a:defRPr sz="1600" b="0">
                <a:solidFill>
                  <a:schemeClr val="bg1"/>
                </a:solidFill>
                <a:latin typeface="Raleway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dirty="0"/>
              <a:t>Subtítulo</a:t>
            </a:r>
            <a:endParaRPr lang="pt-PT" dirty="0"/>
          </a:p>
        </p:txBody>
      </p:sp>
      <p:sp>
        <p:nvSpPr>
          <p:cNvPr id="15" name="Espaço Reservado para Texto 14">
            <a:extLst>
              <a:ext uri="{FF2B5EF4-FFF2-40B4-BE49-F238E27FC236}">
                <a16:creationId xmlns:a16="http://schemas.microsoft.com/office/drawing/2014/main" id="{475E707F-A7DB-B7DC-3118-99DCA99687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636475" y="2198915"/>
            <a:ext cx="2955059" cy="365125"/>
          </a:xfrm>
        </p:spPr>
        <p:txBody>
          <a:bodyPr anchor="b">
            <a:noAutofit/>
          </a:bodyPr>
          <a:lstStyle>
            <a:lvl1pPr marL="0" indent="0">
              <a:buNone/>
              <a:defRPr sz="1400">
                <a:solidFill>
                  <a:schemeClr val="bg1"/>
                </a:solidFill>
                <a:latin typeface="Raleway" pitchFamily="2" charset="0"/>
              </a:defRPr>
            </a:lvl1pPr>
            <a:lvl2pPr>
              <a:defRPr>
                <a:latin typeface="Gobold" panose="02000500000000000000"/>
              </a:defRPr>
            </a:lvl2pPr>
            <a:lvl3pPr>
              <a:defRPr>
                <a:latin typeface="Gobold" panose="02000500000000000000"/>
              </a:defRPr>
            </a:lvl3pPr>
            <a:lvl4pPr>
              <a:defRPr>
                <a:latin typeface="Gobold" panose="02000500000000000000"/>
              </a:defRPr>
            </a:lvl4pPr>
            <a:lvl5pPr>
              <a:defRPr>
                <a:latin typeface="Gobold" panose="02000500000000000000"/>
              </a:defRPr>
            </a:lvl5pPr>
          </a:lstStyle>
          <a:p>
            <a:pPr lvl="0"/>
            <a:r>
              <a:rPr lang="pt-BR" dirty="0"/>
              <a:t>Ref.: </a:t>
            </a:r>
            <a:r>
              <a:rPr lang="pt-BR" dirty="0" err="1"/>
              <a:t>dd.mm.aa</a:t>
            </a:r>
            <a:endParaRPr lang="pt-BR" dirty="0"/>
          </a:p>
        </p:txBody>
      </p:sp>
      <p:sp>
        <p:nvSpPr>
          <p:cNvPr id="16" name="Espaço Reservado para Texto 14">
            <a:extLst>
              <a:ext uri="{FF2B5EF4-FFF2-40B4-BE49-F238E27FC236}">
                <a16:creationId xmlns:a16="http://schemas.microsoft.com/office/drawing/2014/main" id="{50EF54F0-C1D2-37A3-1CB2-BB4C4D68339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636474" y="2774910"/>
            <a:ext cx="2955059" cy="365125"/>
          </a:xfrm>
        </p:spPr>
        <p:txBody>
          <a:bodyPr>
            <a:noAutofit/>
          </a:bodyPr>
          <a:lstStyle>
            <a:lvl1pPr marL="0" indent="0">
              <a:buNone/>
              <a:defRPr sz="1600">
                <a:solidFill>
                  <a:srgbClr val="374567"/>
                </a:solidFill>
                <a:latin typeface="Raleway" pitchFamily="2" charset="0"/>
              </a:defRPr>
            </a:lvl1pPr>
            <a:lvl2pPr>
              <a:defRPr>
                <a:latin typeface="Gobold" panose="02000500000000000000"/>
              </a:defRPr>
            </a:lvl2pPr>
            <a:lvl3pPr>
              <a:defRPr>
                <a:latin typeface="Gobold" panose="02000500000000000000"/>
              </a:defRPr>
            </a:lvl3pPr>
            <a:lvl4pPr>
              <a:defRPr>
                <a:latin typeface="Gobold" panose="02000500000000000000"/>
              </a:defRPr>
            </a:lvl4pPr>
            <a:lvl5pPr>
              <a:defRPr>
                <a:latin typeface="Gobold" panose="02000500000000000000"/>
              </a:defRPr>
            </a:lvl5pPr>
          </a:lstStyle>
          <a:p>
            <a:pPr lvl="0"/>
            <a:r>
              <a:rPr lang="pt-BR" dirty="0"/>
              <a:t>&lt; Informações Adicionais &gt;</a:t>
            </a:r>
          </a:p>
        </p:txBody>
      </p:sp>
      <p:sp>
        <p:nvSpPr>
          <p:cNvPr id="17" name="Espaço Reservado para Texto 14">
            <a:extLst>
              <a:ext uri="{FF2B5EF4-FFF2-40B4-BE49-F238E27FC236}">
                <a16:creationId xmlns:a16="http://schemas.microsoft.com/office/drawing/2014/main" id="{12BBA61F-EAF0-F28B-9B61-38F65A256AF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78262" y="4945255"/>
            <a:ext cx="2112241" cy="532039"/>
          </a:xfrm>
          <a:solidFill>
            <a:srgbClr val="E3E3E3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800" b="1">
                <a:solidFill>
                  <a:srgbClr val="FF0000"/>
                </a:solidFill>
                <a:latin typeface="Gobold" panose="02000500000000000000"/>
              </a:defRPr>
            </a:lvl1pPr>
            <a:lvl2pPr>
              <a:defRPr>
                <a:latin typeface="Gobold" panose="02000500000000000000"/>
              </a:defRPr>
            </a:lvl2pPr>
            <a:lvl3pPr>
              <a:defRPr>
                <a:latin typeface="Gobold" panose="02000500000000000000"/>
              </a:defRPr>
            </a:lvl3pPr>
            <a:lvl4pPr>
              <a:defRPr>
                <a:latin typeface="Gobold" panose="02000500000000000000"/>
              </a:defRPr>
            </a:lvl4pPr>
            <a:lvl5pPr>
              <a:defRPr>
                <a:latin typeface="Gobold" panose="02000500000000000000"/>
              </a:defRPr>
            </a:lvl5pPr>
          </a:lstStyle>
          <a:p>
            <a:pPr lvl="0"/>
            <a:r>
              <a:rPr lang="pt-BR" dirty="0"/>
              <a:t>LOGO DO CLIENTE</a:t>
            </a:r>
          </a:p>
        </p:txBody>
      </p:sp>
      <p:pic>
        <p:nvPicPr>
          <p:cNvPr id="6" name="Imagem 5" descr="Logotipo&#10;&#10;Descrição gerada automaticamente">
            <a:extLst>
              <a:ext uri="{FF2B5EF4-FFF2-40B4-BE49-F238E27FC236}">
                <a16:creationId xmlns:a16="http://schemas.microsoft.com/office/drawing/2014/main" id="{E735EF65-F98A-59EC-04D3-54129B8A311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552" r="17166" b="25746"/>
          <a:stretch/>
        </p:blipFill>
        <p:spPr>
          <a:xfrm>
            <a:off x="9354821" y="5210777"/>
            <a:ext cx="2475230" cy="134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71478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m 12">
            <a:extLst>
              <a:ext uri="{FF2B5EF4-FFF2-40B4-BE49-F238E27FC236}">
                <a16:creationId xmlns:a16="http://schemas.microsoft.com/office/drawing/2014/main" id="{5908E218-EF83-242C-42BB-3E3D70402F3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825"/>
            <a:ext cx="12192000" cy="6858000"/>
          </a:xfrm>
          <a:prstGeom prst="rect">
            <a:avLst/>
          </a:prstGeom>
        </p:spPr>
      </p:pic>
      <p:sp>
        <p:nvSpPr>
          <p:cNvPr id="14" name="Título 1">
            <a:extLst>
              <a:ext uri="{FF2B5EF4-FFF2-40B4-BE49-F238E27FC236}">
                <a16:creationId xmlns:a16="http://schemas.microsoft.com/office/drawing/2014/main" id="{4F70C12F-3874-A08F-81D1-AC2179C47D6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636475" y="2894156"/>
            <a:ext cx="4439261" cy="454025"/>
          </a:xfrm>
        </p:spPr>
        <p:txBody>
          <a:bodyPr anchor="t">
            <a:noAutofit/>
          </a:bodyPr>
          <a:lstStyle>
            <a:lvl1pPr algn="l">
              <a:defRPr sz="2800" b="1">
                <a:solidFill>
                  <a:srgbClr val="374567"/>
                </a:solidFill>
                <a:latin typeface="Gobold" panose="02000500000000000000"/>
              </a:defRPr>
            </a:lvl1pPr>
          </a:lstStyle>
          <a:p>
            <a:r>
              <a:rPr lang="pt-BR" dirty="0"/>
              <a:t>TÍTULO DO PROJETO</a:t>
            </a:r>
            <a:endParaRPr lang="pt-PT" dirty="0"/>
          </a:p>
        </p:txBody>
      </p:sp>
      <p:sp>
        <p:nvSpPr>
          <p:cNvPr id="15" name="Subtítulo 2">
            <a:extLst>
              <a:ext uri="{FF2B5EF4-FFF2-40B4-BE49-F238E27FC236}">
                <a16:creationId xmlns:a16="http://schemas.microsoft.com/office/drawing/2014/main" id="{5EF5A610-1A1D-AD9B-D7BD-844BE2F2F35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636475" y="3302243"/>
            <a:ext cx="4438800" cy="661310"/>
          </a:xfrm>
        </p:spPr>
        <p:txBody>
          <a:bodyPr>
            <a:noAutofit/>
          </a:bodyPr>
          <a:lstStyle>
            <a:lvl1pPr marL="0" indent="0" algn="l">
              <a:buNone/>
              <a:defRPr sz="1600" b="0">
                <a:solidFill>
                  <a:srgbClr val="374567"/>
                </a:solidFill>
                <a:latin typeface="Raleway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dirty="0"/>
              <a:t>Subtítulo</a:t>
            </a:r>
            <a:endParaRPr lang="pt-PT" dirty="0"/>
          </a:p>
        </p:txBody>
      </p:sp>
      <p:sp>
        <p:nvSpPr>
          <p:cNvPr id="16" name="Espaço Reservado para Texto 14">
            <a:extLst>
              <a:ext uri="{FF2B5EF4-FFF2-40B4-BE49-F238E27FC236}">
                <a16:creationId xmlns:a16="http://schemas.microsoft.com/office/drawing/2014/main" id="{FDF8B5AC-DF8F-5F0F-2C5B-3D087644FC2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636475" y="2198915"/>
            <a:ext cx="2955059" cy="365125"/>
          </a:xfrm>
        </p:spPr>
        <p:txBody>
          <a:bodyPr anchor="b">
            <a:noAutofit/>
          </a:bodyPr>
          <a:lstStyle>
            <a:lvl1pPr marL="0" indent="0">
              <a:buNone/>
              <a:defRPr sz="1400">
                <a:solidFill>
                  <a:schemeClr val="bg1"/>
                </a:solidFill>
                <a:latin typeface="Raleway" pitchFamily="2" charset="0"/>
              </a:defRPr>
            </a:lvl1pPr>
            <a:lvl2pPr>
              <a:defRPr>
                <a:latin typeface="Gobold" panose="02000500000000000000"/>
              </a:defRPr>
            </a:lvl2pPr>
            <a:lvl3pPr>
              <a:defRPr>
                <a:latin typeface="Gobold" panose="02000500000000000000"/>
              </a:defRPr>
            </a:lvl3pPr>
            <a:lvl4pPr>
              <a:defRPr>
                <a:latin typeface="Gobold" panose="02000500000000000000"/>
              </a:defRPr>
            </a:lvl4pPr>
            <a:lvl5pPr>
              <a:defRPr>
                <a:latin typeface="Gobold" panose="02000500000000000000"/>
              </a:defRPr>
            </a:lvl5pPr>
          </a:lstStyle>
          <a:p>
            <a:pPr lvl="0"/>
            <a:r>
              <a:rPr lang="pt-BR" dirty="0"/>
              <a:t>Ref.: </a:t>
            </a:r>
            <a:r>
              <a:rPr lang="pt-BR" dirty="0" err="1"/>
              <a:t>dd.mm.aa</a:t>
            </a:r>
            <a:endParaRPr lang="pt-BR" dirty="0"/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0A6C653D-43B4-D6AD-9C0C-7227986D4633}"/>
              </a:ext>
            </a:extLst>
          </p:cNvPr>
          <p:cNvSpPr txBox="1"/>
          <p:nvPr userDrawn="1"/>
        </p:nvSpPr>
        <p:spPr>
          <a:xfrm>
            <a:off x="7636475" y="825382"/>
            <a:ext cx="3978974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>
                <a:solidFill>
                  <a:schemeClr val="bg1"/>
                </a:solidFill>
                <a:latin typeface="Raleway" pitchFamily="2" charset="0"/>
              </a:rPr>
              <a:t>A </a:t>
            </a:r>
            <a:r>
              <a:rPr lang="pt-BR" sz="1600" b="0" dirty="0">
                <a:solidFill>
                  <a:srgbClr val="04ECAB"/>
                </a:solidFill>
                <a:latin typeface="Raleway" pitchFamily="2" charset="0"/>
              </a:rPr>
              <a:t>StepWise</a:t>
            </a:r>
            <a:r>
              <a:rPr lang="pt-BR" sz="1600" dirty="0">
                <a:solidFill>
                  <a:schemeClr val="bg1"/>
                </a:solidFill>
                <a:latin typeface="Raleway" pitchFamily="2" charset="0"/>
              </a:rPr>
              <a:t> vem se consolidando como</a:t>
            </a:r>
          </a:p>
          <a:p>
            <a:r>
              <a:rPr lang="pt-BR" sz="1600" dirty="0">
                <a:solidFill>
                  <a:schemeClr val="bg1"/>
                </a:solidFill>
                <a:latin typeface="Raleway" pitchFamily="2" charset="0"/>
              </a:rPr>
              <a:t>instituição de alta eficiência técnica e</a:t>
            </a:r>
          </a:p>
          <a:p>
            <a:r>
              <a:rPr lang="pt-BR" sz="1600" dirty="0">
                <a:solidFill>
                  <a:schemeClr val="bg1"/>
                </a:solidFill>
                <a:latin typeface="Raleway" pitchFamily="2" charset="0"/>
              </a:rPr>
              <a:t>estratégica no segmento de consultoria</a:t>
            </a:r>
          </a:p>
          <a:p>
            <a:r>
              <a:rPr lang="pt-BR" sz="1600" dirty="0">
                <a:solidFill>
                  <a:schemeClr val="bg1"/>
                </a:solidFill>
                <a:latin typeface="Raleway" pitchFamily="2" charset="0"/>
              </a:rPr>
              <a:t>em inteligência estatística.</a:t>
            </a:r>
          </a:p>
        </p:txBody>
      </p:sp>
      <p:sp>
        <p:nvSpPr>
          <p:cNvPr id="2" name="Espaço Reservado para Texto 14">
            <a:extLst>
              <a:ext uri="{FF2B5EF4-FFF2-40B4-BE49-F238E27FC236}">
                <a16:creationId xmlns:a16="http://schemas.microsoft.com/office/drawing/2014/main" id="{49F84A20-8D0C-6166-2575-2F5D760E999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78262" y="4945255"/>
            <a:ext cx="2112241" cy="532039"/>
          </a:xfrm>
          <a:solidFill>
            <a:srgbClr val="E3E3E3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800" b="1">
                <a:solidFill>
                  <a:srgbClr val="FF0000"/>
                </a:solidFill>
                <a:latin typeface="Gobold" panose="02000500000000000000"/>
              </a:defRPr>
            </a:lvl1pPr>
            <a:lvl2pPr>
              <a:defRPr>
                <a:latin typeface="Gobold" panose="02000500000000000000"/>
              </a:defRPr>
            </a:lvl2pPr>
            <a:lvl3pPr>
              <a:defRPr>
                <a:latin typeface="Gobold" panose="02000500000000000000"/>
              </a:defRPr>
            </a:lvl3pPr>
            <a:lvl4pPr>
              <a:defRPr>
                <a:latin typeface="Gobold" panose="02000500000000000000"/>
              </a:defRPr>
            </a:lvl4pPr>
            <a:lvl5pPr>
              <a:defRPr>
                <a:latin typeface="Gobold" panose="02000500000000000000"/>
              </a:defRPr>
            </a:lvl5pPr>
          </a:lstStyle>
          <a:p>
            <a:pPr lvl="0"/>
            <a:r>
              <a:rPr lang="pt-BR" dirty="0"/>
              <a:t>LOGO DO CLIENTE</a:t>
            </a:r>
          </a:p>
        </p:txBody>
      </p:sp>
      <p:pic>
        <p:nvPicPr>
          <p:cNvPr id="3" name="Imagem 2" descr="Logotipo&#10;&#10;Descrição gerada automaticamente">
            <a:extLst>
              <a:ext uri="{FF2B5EF4-FFF2-40B4-BE49-F238E27FC236}">
                <a16:creationId xmlns:a16="http://schemas.microsoft.com/office/drawing/2014/main" id="{82157E4D-B904-830D-3FC8-B78FC1AD432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552" r="16470" b="25746"/>
          <a:stretch/>
        </p:blipFill>
        <p:spPr>
          <a:xfrm>
            <a:off x="9354820" y="5210777"/>
            <a:ext cx="2503805" cy="134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7068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C219938B-D0F8-BFED-D761-90D1263607F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1"/>
            <a:ext cx="12192000" cy="6857999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A309300F-C86C-1AF5-41DD-F484643BDFDF}"/>
              </a:ext>
            </a:extLst>
          </p:cNvPr>
          <p:cNvSpPr txBox="1"/>
          <p:nvPr userDrawn="1"/>
        </p:nvSpPr>
        <p:spPr>
          <a:xfrm rot="17885796">
            <a:off x="2085790" y="4543011"/>
            <a:ext cx="3631828" cy="940085"/>
          </a:xfrm>
          <a:prstGeom prst="rect">
            <a:avLst/>
          </a:prstGeom>
          <a:noFill/>
        </p:spPr>
        <p:txBody>
          <a:bodyPr wrap="none" rtlCol="0">
            <a:prstTxWarp prst="textArchUp">
              <a:avLst/>
            </a:prstTxWarp>
            <a:spAutoFit/>
          </a:bodyPr>
          <a:lstStyle/>
          <a:p>
            <a:r>
              <a:rPr lang="en-US" sz="1600" dirty="0">
                <a:latin typeface="+mj-lt"/>
              </a:rPr>
              <a:t>Fly  higher</a:t>
            </a:r>
            <a:endParaRPr lang="pt-BR" sz="1600" dirty="0">
              <a:latin typeface="+mj-lt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22F947CC-D1CD-BB5B-3498-353595BCD068}"/>
              </a:ext>
            </a:extLst>
          </p:cNvPr>
          <p:cNvSpPr txBox="1"/>
          <p:nvPr userDrawn="1"/>
        </p:nvSpPr>
        <p:spPr>
          <a:xfrm rot="14769288">
            <a:off x="483994" y="3378072"/>
            <a:ext cx="3631828" cy="1047030"/>
          </a:xfrm>
          <a:prstGeom prst="rect">
            <a:avLst/>
          </a:prstGeom>
          <a:noFill/>
        </p:spPr>
        <p:txBody>
          <a:bodyPr wrap="none" rtlCol="0">
            <a:prstTxWarp prst="textArchDown">
              <a:avLst/>
            </a:prstTxWarp>
            <a:spAutoFit/>
          </a:bodyPr>
          <a:lstStyle/>
          <a:p>
            <a:r>
              <a:rPr lang="en-US" sz="1600" dirty="0">
                <a:latin typeface="+mj-lt"/>
                <a:cs typeface="Gisha" panose="020B0604020202020204" pitchFamily="34" charset="-79"/>
              </a:rPr>
              <a:t> with  statistical</a:t>
            </a:r>
            <a:endParaRPr lang="pt-BR" sz="1600" dirty="0">
              <a:latin typeface="+mj-lt"/>
              <a:cs typeface="Gisha" panose="020B0604020202020204" pitchFamily="34" charset="-79"/>
            </a:endParaRP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61691CE2-EA46-EE62-9E2E-82E5084CC387}"/>
              </a:ext>
            </a:extLst>
          </p:cNvPr>
          <p:cNvSpPr txBox="1"/>
          <p:nvPr userDrawn="1"/>
        </p:nvSpPr>
        <p:spPr>
          <a:xfrm rot="18883247">
            <a:off x="2477561" y="2366546"/>
            <a:ext cx="3631828" cy="940085"/>
          </a:xfrm>
          <a:prstGeom prst="rect">
            <a:avLst/>
          </a:prstGeom>
          <a:noFill/>
        </p:spPr>
        <p:txBody>
          <a:bodyPr wrap="none" rtlCol="0">
            <a:prstTxWarp prst="textArchUp">
              <a:avLst>
                <a:gd name="adj" fmla="val 11116515"/>
              </a:avLst>
            </a:prstTxWarp>
            <a:spAutoFit/>
          </a:bodyPr>
          <a:lstStyle/>
          <a:p>
            <a:r>
              <a:rPr lang="en-US" sz="1600" dirty="0">
                <a:latin typeface="+mj-lt"/>
              </a:rPr>
              <a:t>Intelligence</a:t>
            </a:r>
            <a:endParaRPr lang="pt-BR" sz="1600" dirty="0">
              <a:latin typeface="+mj-lt"/>
            </a:endParaRPr>
          </a:p>
        </p:txBody>
      </p:sp>
      <p:cxnSp>
        <p:nvCxnSpPr>
          <p:cNvPr id="13" name="Conector reto 12">
            <a:extLst>
              <a:ext uri="{FF2B5EF4-FFF2-40B4-BE49-F238E27FC236}">
                <a16:creationId xmlns:a16="http://schemas.microsoft.com/office/drawing/2014/main" id="{CAC082F9-4399-3321-0EB5-9D5188A6D212}"/>
              </a:ext>
            </a:extLst>
          </p:cNvPr>
          <p:cNvCxnSpPr>
            <a:cxnSpLocks/>
          </p:cNvCxnSpPr>
          <p:nvPr userDrawn="1"/>
        </p:nvCxnSpPr>
        <p:spPr>
          <a:xfrm flipH="1">
            <a:off x="4343400" y="6106886"/>
            <a:ext cx="2664000" cy="0"/>
          </a:xfrm>
          <a:prstGeom prst="line">
            <a:avLst/>
          </a:prstGeom>
          <a:ln>
            <a:solidFill>
              <a:srgbClr val="37456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Espaço Reservado para Texto 14">
            <a:extLst>
              <a:ext uri="{FF2B5EF4-FFF2-40B4-BE49-F238E27FC236}">
                <a16:creationId xmlns:a16="http://schemas.microsoft.com/office/drawing/2014/main" id="{3869192D-CA12-CDCC-2317-DF2A831EB9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36535" y="5838457"/>
            <a:ext cx="2112241" cy="532039"/>
          </a:xfrm>
          <a:solidFill>
            <a:srgbClr val="E3E3E3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800" b="1">
                <a:solidFill>
                  <a:srgbClr val="FF0000"/>
                </a:solidFill>
                <a:latin typeface="Gobold" panose="02000500000000000000"/>
              </a:defRPr>
            </a:lvl1pPr>
            <a:lvl2pPr>
              <a:defRPr>
                <a:latin typeface="Gobold" panose="02000500000000000000"/>
              </a:defRPr>
            </a:lvl2pPr>
            <a:lvl3pPr>
              <a:defRPr>
                <a:latin typeface="Gobold" panose="02000500000000000000"/>
              </a:defRPr>
            </a:lvl3pPr>
            <a:lvl4pPr>
              <a:defRPr>
                <a:latin typeface="Gobold" panose="02000500000000000000"/>
              </a:defRPr>
            </a:lvl4pPr>
            <a:lvl5pPr>
              <a:defRPr>
                <a:latin typeface="Gobold" panose="02000500000000000000"/>
              </a:defRPr>
            </a:lvl5pPr>
          </a:lstStyle>
          <a:p>
            <a:pPr lvl="0"/>
            <a:r>
              <a:rPr lang="pt-BR" dirty="0"/>
              <a:t>LOGO DO CLIENTE</a:t>
            </a:r>
          </a:p>
        </p:txBody>
      </p:sp>
      <p:sp>
        <p:nvSpPr>
          <p:cNvPr id="19" name="Título 1">
            <a:extLst>
              <a:ext uri="{FF2B5EF4-FFF2-40B4-BE49-F238E27FC236}">
                <a16:creationId xmlns:a16="http://schemas.microsoft.com/office/drawing/2014/main" id="{18C1BFD8-985F-29E1-C38A-DD0479A0364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88942" y="1470532"/>
            <a:ext cx="3577522" cy="641628"/>
          </a:xfrm>
        </p:spPr>
        <p:txBody>
          <a:bodyPr anchor="t">
            <a:noAutofit/>
          </a:bodyPr>
          <a:lstStyle>
            <a:lvl1pPr algn="l">
              <a:defRPr sz="4800" b="1">
                <a:solidFill>
                  <a:srgbClr val="374567"/>
                </a:solidFill>
                <a:latin typeface="Gobold" panose="02000500000000000000"/>
              </a:defRPr>
            </a:lvl1pPr>
          </a:lstStyle>
          <a:p>
            <a:r>
              <a:rPr lang="pt-BR" dirty="0"/>
              <a:t>SUMÁRIO</a:t>
            </a:r>
            <a:endParaRPr lang="pt-PT" dirty="0"/>
          </a:p>
        </p:txBody>
      </p:sp>
      <p:sp>
        <p:nvSpPr>
          <p:cNvPr id="26" name="Espaço Reservado para Texto 25">
            <a:extLst>
              <a:ext uri="{FF2B5EF4-FFF2-40B4-BE49-F238E27FC236}">
                <a16:creationId xmlns:a16="http://schemas.microsoft.com/office/drawing/2014/main" id="{0E7DFA32-FA47-6E3F-8424-0B9C95A3B10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188942" y="2248617"/>
            <a:ext cx="3577521" cy="2037631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None/>
              <a:defRPr lang="pt-BR" sz="2000" b="0" kern="1200" dirty="0">
                <a:solidFill>
                  <a:srgbClr val="374567"/>
                </a:solidFill>
                <a:latin typeface="Raleway" pitchFamily="2" charset="0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t-BR" dirty="0"/>
              <a:t>01. Texto</a:t>
            </a:r>
          </a:p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t-BR" dirty="0"/>
              <a:t>02. Texto</a:t>
            </a:r>
          </a:p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t-BR" dirty="0"/>
              <a:t>03. Texto</a:t>
            </a:r>
          </a:p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t-BR" dirty="0"/>
              <a:t>04. Texto</a:t>
            </a:r>
          </a:p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t-BR" dirty="0"/>
              <a:t>05. Texto</a:t>
            </a:r>
          </a:p>
        </p:txBody>
      </p:sp>
      <p:sp>
        <p:nvSpPr>
          <p:cNvPr id="28" name="Espaço Reservado para Texto 27">
            <a:extLst>
              <a:ext uri="{FF2B5EF4-FFF2-40B4-BE49-F238E27FC236}">
                <a16:creationId xmlns:a16="http://schemas.microsoft.com/office/drawing/2014/main" id="{3F34D33B-73B6-A399-E295-F08F259E1C6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896427" y="2248616"/>
            <a:ext cx="3577521" cy="2037623"/>
          </a:xfrm>
        </p:spPr>
        <p:txBody>
          <a:bodyPr>
            <a:noAutofit/>
          </a:bodyPr>
          <a:lstStyle>
            <a:lvl1pPr marL="0" indent="0">
              <a:buNone/>
              <a:defRPr lang="pt-BR" sz="2000" b="0" kern="1200" dirty="0">
                <a:solidFill>
                  <a:srgbClr val="374567"/>
                </a:solidFill>
                <a:latin typeface="Raleway" pitchFamily="2" charset="0"/>
                <a:ea typeface="+mj-ea"/>
                <a:cs typeface="+mj-cs"/>
              </a:defRPr>
            </a:lvl1pPr>
            <a:lvl5pPr>
              <a:defRPr/>
            </a:lvl5pPr>
          </a:lstStyle>
          <a:p>
            <a:pPr lvl="0"/>
            <a:r>
              <a:rPr lang="pt-BR" dirty="0"/>
              <a:t>06. Texto</a:t>
            </a:r>
          </a:p>
          <a:p>
            <a:pPr lvl="0"/>
            <a:r>
              <a:rPr lang="pt-BR" dirty="0"/>
              <a:t>07. Texto</a:t>
            </a:r>
          </a:p>
          <a:p>
            <a:pPr lvl="0"/>
            <a:r>
              <a:rPr lang="pt-BR" dirty="0"/>
              <a:t>08. Texto</a:t>
            </a:r>
          </a:p>
          <a:p>
            <a:pPr lvl="0"/>
            <a:r>
              <a:rPr lang="pt-BR" dirty="0"/>
              <a:t>09. Texto</a:t>
            </a:r>
          </a:p>
          <a:p>
            <a:pPr lvl="0"/>
            <a:r>
              <a:rPr lang="pt-BR" dirty="0"/>
              <a:t>10. Texto</a:t>
            </a:r>
          </a:p>
          <a:p>
            <a:pPr lvl="0"/>
            <a:endParaRPr lang="pt-BR" dirty="0"/>
          </a:p>
        </p:txBody>
      </p:sp>
      <p:pic>
        <p:nvPicPr>
          <p:cNvPr id="4" name="Imagem 3" descr="Logotipo&#10;&#10;Descrição gerada automaticamente">
            <a:extLst>
              <a:ext uri="{FF2B5EF4-FFF2-40B4-BE49-F238E27FC236}">
                <a16:creationId xmlns:a16="http://schemas.microsoft.com/office/drawing/2014/main" id="{A780AB00-DC9C-0FDF-9871-043BC602395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552" r="16470" b="25746"/>
          <a:stretch/>
        </p:blipFill>
        <p:spPr>
          <a:xfrm>
            <a:off x="9354820" y="5210777"/>
            <a:ext cx="2503805" cy="134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31458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Imagem digital fictícia de personagem de desenho animado&#10;&#10;Descrição gerada automaticamente com confiança baixa">
            <a:extLst>
              <a:ext uri="{FF2B5EF4-FFF2-40B4-BE49-F238E27FC236}">
                <a16:creationId xmlns:a16="http://schemas.microsoft.com/office/drawing/2014/main" id="{3E5F0395-0870-A41C-4187-3EFB1CB9CC8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13" name="Conector reto 12">
            <a:extLst>
              <a:ext uri="{FF2B5EF4-FFF2-40B4-BE49-F238E27FC236}">
                <a16:creationId xmlns:a16="http://schemas.microsoft.com/office/drawing/2014/main" id="{74E46556-2A86-A9C7-75A5-4AC9164AEA0B}"/>
              </a:ext>
            </a:extLst>
          </p:cNvPr>
          <p:cNvCxnSpPr/>
          <p:nvPr userDrawn="1"/>
        </p:nvCxnSpPr>
        <p:spPr>
          <a:xfrm>
            <a:off x="9853127" y="4627984"/>
            <a:ext cx="198742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Espaço Reservado para Texto 14">
            <a:extLst>
              <a:ext uri="{FF2B5EF4-FFF2-40B4-BE49-F238E27FC236}">
                <a16:creationId xmlns:a16="http://schemas.microsoft.com/office/drawing/2014/main" id="{E18870F2-9E70-3E0A-1ADD-008A126BE89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853128" y="3962533"/>
            <a:ext cx="1987420" cy="532039"/>
          </a:xfrm>
          <a:solidFill>
            <a:srgbClr val="FFFF00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800" b="1">
                <a:solidFill>
                  <a:srgbClr val="FF0000"/>
                </a:solidFill>
                <a:latin typeface="Gobold" panose="02000500000000000000"/>
              </a:defRPr>
            </a:lvl1pPr>
            <a:lvl2pPr>
              <a:defRPr>
                <a:latin typeface="Gobold" panose="02000500000000000000"/>
              </a:defRPr>
            </a:lvl2pPr>
            <a:lvl3pPr>
              <a:defRPr>
                <a:latin typeface="Gobold" panose="02000500000000000000"/>
              </a:defRPr>
            </a:lvl3pPr>
            <a:lvl4pPr>
              <a:defRPr>
                <a:latin typeface="Gobold" panose="02000500000000000000"/>
              </a:defRPr>
            </a:lvl4pPr>
            <a:lvl5pPr>
              <a:defRPr>
                <a:latin typeface="Gobold" panose="02000500000000000000"/>
              </a:defRPr>
            </a:lvl5pPr>
          </a:lstStyle>
          <a:p>
            <a:pPr lvl="0"/>
            <a:r>
              <a:rPr lang="pt-BR" dirty="0"/>
              <a:t>LOGO DO CLIENTE</a:t>
            </a:r>
          </a:p>
        </p:txBody>
      </p:sp>
      <p:sp>
        <p:nvSpPr>
          <p:cNvPr id="20" name="Espaço Reservado para Texto 16">
            <a:extLst>
              <a:ext uri="{FF2B5EF4-FFF2-40B4-BE49-F238E27FC236}">
                <a16:creationId xmlns:a16="http://schemas.microsoft.com/office/drawing/2014/main" id="{E0EF1D02-B3CD-C5D0-F3C7-132C13F7FC2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429500" y="861261"/>
            <a:ext cx="942975" cy="673820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buNone/>
              <a:defRPr lang="pt-BR" sz="4400" kern="1200" dirty="0" smtClean="0">
                <a:solidFill>
                  <a:schemeClr val="bg1"/>
                </a:solidFill>
                <a:latin typeface="Gobold" panose="02000500000000000000" pitchFamily="2" charset="0"/>
                <a:ea typeface="+mn-ea"/>
                <a:cs typeface="+mn-cs"/>
              </a:defRPr>
            </a:lvl1pPr>
            <a:lvl2pPr marL="0" algn="l" defTabSz="914400" rtl="0" eaLnBrk="1" latinLnBrk="0" hangingPunct="1">
              <a:defRPr lang="pt-BR" sz="4400" kern="1200" dirty="0" smtClean="0">
                <a:solidFill>
                  <a:schemeClr val="bg1"/>
                </a:solidFill>
                <a:latin typeface="Gobold" panose="02000500000000000000" pitchFamily="2" charset="0"/>
                <a:ea typeface="+mn-ea"/>
                <a:cs typeface="+mn-cs"/>
              </a:defRPr>
            </a:lvl2pPr>
            <a:lvl3pPr marL="0" algn="l" defTabSz="914400" rtl="0" eaLnBrk="1" latinLnBrk="0" hangingPunct="1">
              <a:defRPr lang="pt-BR" sz="4400" kern="1200" dirty="0" smtClean="0">
                <a:solidFill>
                  <a:schemeClr val="bg1"/>
                </a:solidFill>
                <a:latin typeface="Gobold" panose="02000500000000000000" pitchFamily="2" charset="0"/>
                <a:ea typeface="+mn-ea"/>
                <a:cs typeface="+mn-cs"/>
              </a:defRPr>
            </a:lvl3pPr>
            <a:lvl4pPr marL="0" algn="l" defTabSz="914400" rtl="0" eaLnBrk="1" latinLnBrk="0" hangingPunct="1">
              <a:defRPr lang="pt-BR" sz="4400" kern="1200" dirty="0" smtClean="0">
                <a:solidFill>
                  <a:schemeClr val="bg1"/>
                </a:solidFill>
                <a:latin typeface="Gobold" panose="02000500000000000000" pitchFamily="2" charset="0"/>
                <a:ea typeface="+mn-ea"/>
                <a:cs typeface="+mn-cs"/>
              </a:defRPr>
            </a:lvl4pPr>
            <a:lvl5pPr marL="0" algn="l" defTabSz="914400" rtl="0" eaLnBrk="1" latinLnBrk="0" hangingPunct="1">
              <a:defRPr lang="pt-BR" sz="4400" kern="1200" dirty="0">
                <a:solidFill>
                  <a:schemeClr val="bg1"/>
                </a:solidFill>
                <a:latin typeface="Gobold" panose="02000500000000000000" pitchFamily="2" charset="0"/>
                <a:ea typeface="+mn-ea"/>
                <a:cs typeface="+mn-cs"/>
              </a:defRPr>
            </a:lvl5pPr>
          </a:lstStyle>
          <a:p>
            <a:pPr lvl="0"/>
            <a:r>
              <a:rPr lang="pt-BR" dirty="0"/>
              <a:t>01.</a:t>
            </a:r>
          </a:p>
        </p:txBody>
      </p:sp>
      <p:sp>
        <p:nvSpPr>
          <p:cNvPr id="21" name="Espaço Reservado para Texto 18">
            <a:extLst>
              <a:ext uri="{FF2B5EF4-FFF2-40B4-BE49-F238E27FC236}">
                <a16:creationId xmlns:a16="http://schemas.microsoft.com/office/drawing/2014/main" id="{A5F5BCDF-30A3-B9A2-8097-BCF7A7AE6B2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427881" y="1550255"/>
            <a:ext cx="4412666" cy="532038"/>
          </a:xfrm>
        </p:spPr>
        <p:txBody>
          <a:bodyPr>
            <a:noAutofit/>
          </a:bodyPr>
          <a:lstStyle>
            <a:lvl1pPr marL="0" indent="0">
              <a:buNone/>
              <a:defRPr lang="pt-BR" sz="3200" kern="1200" dirty="0" smtClean="0">
                <a:solidFill>
                  <a:schemeClr val="bg1"/>
                </a:solidFill>
                <a:latin typeface="Gobold" panose="02000500000000000000" pitchFamily="2" charset="0"/>
                <a:ea typeface="+mn-ea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t-BR" dirty="0"/>
              <a:t>título – Fonte </a:t>
            </a:r>
            <a:r>
              <a:rPr lang="pt-BR" dirty="0" err="1"/>
              <a:t>Gobold</a:t>
            </a:r>
            <a:endParaRPr lang="pt-BR" dirty="0"/>
          </a:p>
        </p:txBody>
      </p:sp>
      <p:sp>
        <p:nvSpPr>
          <p:cNvPr id="3" name="Espaço Reservado para Texto 18">
            <a:extLst>
              <a:ext uri="{FF2B5EF4-FFF2-40B4-BE49-F238E27FC236}">
                <a16:creationId xmlns:a16="http://schemas.microsoft.com/office/drawing/2014/main" id="{20C821EF-7471-3EDA-2138-A2A8502275E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427881" y="2108526"/>
            <a:ext cx="4412666" cy="532038"/>
          </a:xfrm>
        </p:spPr>
        <p:txBody>
          <a:bodyPr>
            <a:noAutofit/>
          </a:bodyPr>
          <a:lstStyle>
            <a:lvl1pPr marL="0" indent="0">
              <a:buNone/>
              <a:defRPr lang="pt-BR" sz="1800" kern="1200" dirty="0" smtClean="0">
                <a:solidFill>
                  <a:schemeClr val="bg1"/>
                </a:solidFill>
                <a:latin typeface="Raleway" pitchFamily="2" charset="0"/>
                <a:ea typeface="+mn-ea"/>
                <a:cs typeface="Angsana New" panose="020B0502040204020203" pitchFamily="18" charset="-34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t-BR" dirty="0"/>
              <a:t>Complemento – Fonte </a:t>
            </a:r>
            <a:r>
              <a:rPr lang="pt-BR" dirty="0" err="1"/>
              <a:t>Raleway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2522971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 descr="Uma imagem contendo Aplicativo&#10;&#10;Descrição gerada automaticamente">
            <a:extLst>
              <a:ext uri="{FF2B5EF4-FFF2-40B4-BE49-F238E27FC236}">
                <a16:creationId xmlns:a16="http://schemas.microsoft.com/office/drawing/2014/main" id="{E6A614E9-6826-9043-5BD1-BDD109A28C6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319922C-CA18-20AE-6520-373096D99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21173537">
            <a:off x="11210924" y="5992957"/>
            <a:ext cx="668193" cy="365125"/>
          </a:xfrm>
        </p:spPr>
        <p:txBody>
          <a:bodyPr/>
          <a:lstStyle>
            <a:lvl1pPr>
              <a:defRPr sz="1400" b="1">
                <a:solidFill>
                  <a:schemeClr val="bg1"/>
                </a:solidFill>
                <a:latin typeface="Raleway" pitchFamily="2" charset="0"/>
              </a:defRPr>
            </a:lvl1pPr>
          </a:lstStyle>
          <a:p>
            <a:fld id="{AD78F8EF-AD73-49BA-8349-CA3A518C48B4}" type="slidenum">
              <a:rPr lang="pt-PT" smtClean="0"/>
              <a:pPr/>
              <a:t>‹nº›</a:t>
            </a:fld>
            <a:endParaRPr lang="pt-PT" dirty="0"/>
          </a:p>
        </p:txBody>
      </p:sp>
      <p:sp>
        <p:nvSpPr>
          <p:cNvPr id="9" name="Espaço Reservado para Imagem 8">
            <a:extLst>
              <a:ext uri="{FF2B5EF4-FFF2-40B4-BE49-F238E27FC236}">
                <a16:creationId xmlns:a16="http://schemas.microsoft.com/office/drawing/2014/main" id="{2E4D7CC6-23FF-E506-C04F-BED5B09B5C0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884928" y="55416"/>
            <a:ext cx="2245014" cy="535709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 b="1">
                <a:solidFill>
                  <a:srgbClr val="FF0000"/>
                </a:solidFill>
                <a:highlight>
                  <a:srgbClr val="FFFF00"/>
                </a:highlight>
                <a:latin typeface="Gobold"/>
              </a:defRPr>
            </a:lvl1pPr>
          </a:lstStyle>
          <a:p>
            <a:r>
              <a:rPr lang="pt-BR" dirty="0"/>
              <a:t>LOGO DO CLIENTE</a:t>
            </a:r>
          </a:p>
        </p:txBody>
      </p:sp>
      <p:sp>
        <p:nvSpPr>
          <p:cNvPr id="13" name="Espaço Reservado para Texto 12">
            <a:extLst>
              <a:ext uri="{FF2B5EF4-FFF2-40B4-BE49-F238E27FC236}">
                <a16:creationId xmlns:a16="http://schemas.microsoft.com/office/drawing/2014/main" id="{C30EFF50-6D18-7848-D01D-8A6EA13C05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3421" y="16932"/>
            <a:ext cx="6119754" cy="313414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bg1"/>
                </a:solidFill>
                <a:latin typeface="Raleway" pitchFamily="2" charset="0"/>
              </a:defRPr>
            </a:lvl1pPr>
          </a:lstStyle>
          <a:p>
            <a:pPr lvl="0"/>
            <a:r>
              <a:rPr lang="pt-BR" dirty="0"/>
              <a:t>Título do Slide – Fonte </a:t>
            </a:r>
            <a:r>
              <a:rPr lang="pt-BR" dirty="0" err="1"/>
              <a:t>Raleway</a:t>
            </a:r>
            <a:r>
              <a:rPr lang="pt-BR" dirty="0"/>
              <a:t> Negrito</a:t>
            </a:r>
          </a:p>
        </p:txBody>
      </p:sp>
      <p:sp>
        <p:nvSpPr>
          <p:cNvPr id="16" name="Espaço Reservado para Texto 15">
            <a:extLst>
              <a:ext uri="{FF2B5EF4-FFF2-40B4-BE49-F238E27FC236}">
                <a16:creationId xmlns:a16="http://schemas.microsoft.com/office/drawing/2014/main" id="{57C06B37-62AB-77DB-3B94-F2E90488AD1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3420" y="300999"/>
            <a:ext cx="6119753" cy="277535"/>
          </a:xfrm>
        </p:spPr>
        <p:txBody>
          <a:bodyPr>
            <a:noAutofit/>
          </a:bodyPr>
          <a:lstStyle>
            <a:lvl1pPr marL="0" indent="0">
              <a:buNone/>
              <a:defRPr lang="pt-BR" sz="1400" b="0" kern="1200" dirty="0">
                <a:solidFill>
                  <a:schemeClr val="bg1"/>
                </a:solidFill>
                <a:latin typeface="Raleway" pitchFamily="2" charset="0"/>
                <a:ea typeface="+mn-ea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t-BR" dirty="0"/>
              <a:t>Subtítulo – Fonte </a:t>
            </a:r>
            <a:r>
              <a:rPr lang="pt-BR" dirty="0" err="1"/>
              <a:t>Raleway</a:t>
            </a:r>
            <a:r>
              <a:rPr lang="pt-B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47318543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2B31A874-9E74-ECAA-B6C4-A4AA77ED59F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45719"/>
            <a:ext cx="12192000" cy="6812281"/>
          </a:xfrm>
          <a:prstGeom prst="rect">
            <a:avLst/>
          </a:prstGeom>
          <a:solidFill>
            <a:srgbClr val="EDEF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6" name="Imagem 5" descr="Uma imagem contendo Aplicativo&#10;&#10;Descrição gerada automaticamente">
            <a:extLst>
              <a:ext uri="{FF2B5EF4-FFF2-40B4-BE49-F238E27FC236}">
                <a16:creationId xmlns:a16="http://schemas.microsoft.com/office/drawing/2014/main" id="{E6A614E9-6826-9043-5BD1-BDD109A28C6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306" b="90028"/>
          <a:stretch/>
        </p:blipFill>
        <p:spPr>
          <a:xfrm>
            <a:off x="0" y="0"/>
            <a:ext cx="12192000" cy="45719"/>
          </a:xfrm>
          <a:prstGeom prst="rect">
            <a:avLst/>
          </a:prstGeom>
        </p:spPr>
      </p:pic>
      <p:pic>
        <p:nvPicPr>
          <p:cNvPr id="10" name="Imagem 9" descr="Ícone&#10;&#10;Descrição gerada automaticamente com confiança média">
            <a:extLst>
              <a:ext uri="{FF2B5EF4-FFF2-40B4-BE49-F238E27FC236}">
                <a16:creationId xmlns:a16="http://schemas.microsoft.com/office/drawing/2014/main" id="{598338AF-37B5-04E0-6D1A-DCD8DD8D33B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036042">
            <a:off x="10999539" y="6045621"/>
            <a:ext cx="1216724" cy="1005914"/>
          </a:xfrm>
          <a:prstGeom prst="rect">
            <a:avLst/>
          </a:prstGeom>
        </p:spPr>
      </p:pic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319922C-CA18-20AE-6520-373096D99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21173537">
            <a:off x="11210924" y="5992957"/>
            <a:ext cx="668193" cy="365125"/>
          </a:xfrm>
        </p:spPr>
        <p:txBody>
          <a:bodyPr/>
          <a:lstStyle>
            <a:lvl1pPr>
              <a:defRPr sz="1400" b="1">
                <a:solidFill>
                  <a:schemeClr val="bg1"/>
                </a:solidFill>
                <a:latin typeface="Raleway" pitchFamily="2" charset="0"/>
              </a:defRPr>
            </a:lvl1pPr>
          </a:lstStyle>
          <a:p>
            <a:fld id="{AD78F8EF-AD73-49BA-8349-CA3A518C48B4}" type="slidenum">
              <a:rPr lang="pt-PT" smtClean="0"/>
              <a:pPr/>
              <a:t>‹nº›</a:t>
            </a:fld>
            <a:endParaRPr lang="pt-PT" dirty="0"/>
          </a:p>
        </p:txBody>
      </p:sp>
      <p:pic>
        <p:nvPicPr>
          <p:cNvPr id="12" name="Imagem 11" descr="Foto em preto e branco de computador&#10;&#10;Descrição gerada automaticamente">
            <a:extLst>
              <a:ext uri="{FF2B5EF4-FFF2-40B4-BE49-F238E27FC236}">
                <a16:creationId xmlns:a16="http://schemas.microsoft.com/office/drawing/2014/main" id="{A690BD77-7559-1AB4-860F-44E961CD24F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08"/>
          <a:stretch/>
        </p:blipFill>
        <p:spPr>
          <a:xfrm>
            <a:off x="0" y="282706"/>
            <a:ext cx="1123950" cy="1315066"/>
          </a:xfrm>
          <a:prstGeom prst="rect">
            <a:avLst/>
          </a:prstGeom>
        </p:spPr>
      </p:pic>
      <p:sp>
        <p:nvSpPr>
          <p:cNvPr id="14" name="Espaço Reservado para Texto 12">
            <a:extLst>
              <a:ext uri="{FF2B5EF4-FFF2-40B4-BE49-F238E27FC236}">
                <a16:creationId xmlns:a16="http://schemas.microsoft.com/office/drawing/2014/main" id="{EBB0BE1A-9CEC-A33F-B049-A32A1E899CE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23950" y="444631"/>
            <a:ext cx="7305675" cy="313414"/>
          </a:xfrm>
        </p:spPr>
        <p:txBody>
          <a:bodyPr>
            <a:noAutofit/>
          </a:bodyPr>
          <a:lstStyle>
            <a:lvl1pPr marL="0" indent="0">
              <a:buNone/>
              <a:defRPr sz="2800" b="1">
                <a:solidFill>
                  <a:srgbClr val="323E56"/>
                </a:solidFill>
                <a:latin typeface="Raleway" pitchFamily="2" charset="0"/>
              </a:defRPr>
            </a:lvl1pPr>
          </a:lstStyle>
          <a:p>
            <a:pPr lvl="0"/>
            <a:r>
              <a:rPr lang="pt-BR" dirty="0"/>
              <a:t>Título do Slide – Fonte </a:t>
            </a:r>
            <a:r>
              <a:rPr lang="pt-BR" dirty="0" err="1"/>
              <a:t>Raleway</a:t>
            </a:r>
            <a:r>
              <a:rPr lang="pt-BR" dirty="0"/>
              <a:t> Negrito</a:t>
            </a:r>
          </a:p>
        </p:txBody>
      </p:sp>
    </p:spTree>
    <p:extLst>
      <p:ext uri="{BB962C8B-B14F-4D97-AF65-F5344CB8AC3E}">
        <p14:creationId xmlns:p14="http://schemas.microsoft.com/office/powerpoint/2010/main" val="1396164871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m 10">
            <a:extLst>
              <a:ext uri="{FF2B5EF4-FFF2-40B4-BE49-F238E27FC236}">
                <a16:creationId xmlns:a16="http://schemas.microsoft.com/office/drawing/2014/main" id="{2A8E4BC9-FAC2-9A13-B086-8B0C0CC782B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1"/>
            <a:ext cx="12191998" cy="6857998"/>
          </a:xfrm>
          <a:prstGeom prst="rect">
            <a:avLst/>
          </a:prstGeom>
        </p:spPr>
      </p:pic>
      <p:sp>
        <p:nvSpPr>
          <p:cNvPr id="12" name="Rounded Rectangle 1">
            <a:extLst>
              <a:ext uri="{FF2B5EF4-FFF2-40B4-BE49-F238E27FC236}">
                <a16:creationId xmlns:a16="http://schemas.microsoft.com/office/drawing/2014/main" id="{76640565-E022-8894-54A5-5681A9A5C42D}"/>
              </a:ext>
            </a:extLst>
          </p:cNvPr>
          <p:cNvSpPr/>
          <p:nvPr userDrawn="1"/>
        </p:nvSpPr>
        <p:spPr>
          <a:xfrm>
            <a:off x="7447107" y="1679383"/>
            <a:ext cx="2458893" cy="330741"/>
          </a:xfrm>
          <a:prstGeom prst="roundRect">
            <a:avLst/>
          </a:prstGeom>
          <a:gradFill flip="none" rotWithShape="1">
            <a:gsLst>
              <a:gs pos="100000">
                <a:srgbClr val="04ECAB"/>
              </a:gs>
              <a:gs pos="0">
                <a:srgbClr val="2C28FF"/>
              </a:gs>
              <a:gs pos="52000">
                <a:srgbClr val="2C80D9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>
              <a:ln w="0"/>
              <a:gradFill>
                <a:gsLst>
                  <a:gs pos="21000">
                    <a:srgbClr val="53575C"/>
                  </a:gs>
                  <a:gs pos="88000">
                    <a:srgbClr val="C5C7CA"/>
                  </a:gs>
                </a:gsLst>
                <a:lin ang="5400000"/>
              </a:gradFill>
            </a:endParaRPr>
          </a:p>
        </p:txBody>
      </p:sp>
      <p:sp>
        <p:nvSpPr>
          <p:cNvPr id="13" name="Rounded Rectangle 6">
            <a:extLst>
              <a:ext uri="{FF2B5EF4-FFF2-40B4-BE49-F238E27FC236}">
                <a16:creationId xmlns:a16="http://schemas.microsoft.com/office/drawing/2014/main" id="{01ED314F-505A-99A7-8CE1-A9A16E1B48B6}"/>
              </a:ext>
            </a:extLst>
          </p:cNvPr>
          <p:cNvSpPr/>
          <p:nvPr userDrawn="1"/>
        </p:nvSpPr>
        <p:spPr>
          <a:xfrm>
            <a:off x="7447107" y="2538919"/>
            <a:ext cx="3782868" cy="330741"/>
          </a:xfrm>
          <a:prstGeom prst="roundRect">
            <a:avLst/>
          </a:prstGeom>
          <a:gradFill flip="none" rotWithShape="1">
            <a:gsLst>
              <a:gs pos="100000">
                <a:srgbClr val="04ECAB"/>
              </a:gs>
              <a:gs pos="0">
                <a:srgbClr val="2C28FF"/>
              </a:gs>
              <a:gs pos="52000">
                <a:srgbClr val="2C80D9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>
              <a:ln w="0"/>
              <a:gradFill>
                <a:gsLst>
                  <a:gs pos="21000">
                    <a:srgbClr val="53575C"/>
                  </a:gs>
                  <a:gs pos="88000">
                    <a:srgbClr val="C5C7CA"/>
                  </a:gs>
                </a:gsLst>
                <a:lin ang="5400000"/>
              </a:gradFill>
            </a:endParaRPr>
          </a:p>
        </p:txBody>
      </p:sp>
      <p:sp>
        <p:nvSpPr>
          <p:cNvPr id="14" name="TextBox 2">
            <a:extLst>
              <a:ext uri="{FF2B5EF4-FFF2-40B4-BE49-F238E27FC236}">
                <a16:creationId xmlns:a16="http://schemas.microsoft.com/office/drawing/2014/main" id="{FD2EB573-60AB-778A-C0C9-56A56B05BC84}"/>
              </a:ext>
            </a:extLst>
          </p:cNvPr>
          <p:cNvSpPr txBox="1"/>
          <p:nvPr userDrawn="1"/>
        </p:nvSpPr>
        <p:spPr>
          <a:xfrm>
            <a:off x="7447106" y="1310051"/>
            <a:ext cx="1087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T" dirty="0">
                <a:solidFill>
                  <a:srgbClr val="2C28FF"/>
                </a:solidFill>
                <a:latin typeface="+mn-lt"/>
              </a:rPr>
              <a:t>Site</a:t>
            </a:r>
          </a:p>
        </p:txBody>
      </p:sp>
      <p:sp>
        <p:nvSpPr>
          <p:cNvPr id="15" name="TextBox 7">
            <a:extLst>
              <a:ext uri="{FF2B5EF4-FFF2-40B4-BE49-F238E27FC236}">
                <a16:creationId xmlns:a16="http://schemas.microsoft.com/office/drawing/2014/main" id="{368821A4-2203-6B6E-3B31-39CF161D197D}"/>
              </a:ext>
            </a:extLst>
          </p:cNvPr>
          <p:cNvSpPr txBox="1"/>
          <p:nvPr userDrawn="1"/>
        </p:nvSpPr>
        <p:spPr>
          <a:xfrm>
            <a:off x="7447106" y="2150131"/>
            <a:ext cx="1087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T" dirty="0">
                <a:solidFill>
                  <a:srgbClr val="2C28FF"/>
                </a:solidFill>
                <a:latin typeface="+mn-lt"/>
              </a:rPr>
              <a:t>Linkedin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2D109343-5F9E-CD72-C720-D47595372B9A}"/>
              </a:ext>
            </a:extLst>
          </p:cNvPr>
          <p:cNvSpPr txBox="1"/>
          <p:nvPr userDrawn="1"/>
        </p:nvSpPr>
        <p:spPr>
          <a:xfrm>
            <a:off x="7542357" y="1671005"/>
            <a:ext cx="22673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>
                <a:solidFill>
                  <a:schemeClr val="bg1"/>
                </a:solidFill>
                <a:latin typeface="+mj-lt"/>
              </a:rPr>
              <a:t>www.stepwise.com.br</a:t>
            </a:r>
            <a:endParaRPr lang="pt-PT" sz="16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B249FDB8-34B2-64B2-D1BC-D96754D5C5E4}"/>
              </a:ext>
            </a:extLst>
          </p:cNvPr>
          <p:cNvSpPr txBox="1"/>
          <p:nvPr userDrawn="1"/>
        </p:nvSpPr>
        <p:spPr>
          <a:xfrm>
            <a:off x="7447109" y="2539286"/>
            <a:ext cx="3876674" cy="330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pt-BR" sz="1550" dirty="0">
                <a:solidFill>
                  <a:schemeClr val="bg1"/>
                </a:solidFill>
                <a:latin typeface="+mj-lt"/>
              </a:rPr>
              <a:t>www.linkedin.com/company/stepwise</a:t>
            </a:r>
          </a:p>
        </p:txBody>
      </p:sp>
      <p:sp>
        <p:nvSpPr>
          <p:cNvPr id="2" name="Espaço Reservado para Texto 14">
            <a:extLst>
              <a:ext uri="{FF2B5EF4-FFF2-40B4-BE49-F238E27FC236}">
                <a16:creationId xmlns:a16="http://schemas.microsoft.com/office/drawing/2014/main" id="{B4C90C0E-D5D8-EC09-2F40-24FCBF14A38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78262" y="4945255"/>
            <a:ext cx="2112241" cy="532039"/>
          </a:xfrm>
          <a:solidFill>
            <a:srgbClr val="E3E3E3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800" b="1">
                <a:solidFill>
                  <a:srgbClr val="FF0000"/>
                </a:solidFill>
                <a:latin typeface="Gobold" panose="02000500000000000000"/>
              </a:defRPr>
            </a:lvl1pPr>
            <a:lvl2pPr>
              <a:defRPr>
                <a:latin typeface="Gobold" panose="02000500000000000000"/>
              </a:defRPr>
            </a:lvl2pPr>
            <a:lvl3pPr>
              <a:defRPr>
                <a:latin typeface="Gobold" panose="02000500000000000000"/>
              </a:defRPr>
            </a:lvl3pPr>
            <a:lvl4pPr>
              <a:defRPr>
                <a:latin typeface="Gobold" panose="02000500000000000000"/>
              </a:defRPr>
            </a:lvl4pPr>
            <a:lvl5pPr>
              <a:defRPr>
                <a:latin typeface="Gobold" panose="02000500000000000000"/>
              </a:defRPr>
            </a:lvl5pPr>
          </a:lstStyle>
          <a:p>
            <a:pPr lvl="0"/>
            <a:r>
              <a:rPr lang="pt-BR" dirty="0"/>
              <a:t>LOGO DO CLIENTE</a:t>
            </a:r>
          </a:p>
        </p:txBody>
      </p:sp>
      <p:pic>
        <p:nvPicPr>
          <p:cNvPr id="3" name="Imagem 2" descr="Logotipo&#10;&#10;Descrição gerada automaticamente">
            <a:extLst>
              <a:ext uri="{FF2B5EF4-FFF2-40B4-BE49-F238E27FC236}">
                <a16:creationId xmlns:a16="http://schemas.microsoft.com/office/drawing/2014/main" id="{528235C5-BE65-D0B8-C63F-1FE80E90098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552" b="25746"/>
          <a:stretch/>
        </p:blipFill>
        <p:spPr>
          <a:xfrm>
            <a:off x="9354820" y="5210777"/>
            <a:ext cx="3180081" cy="134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2146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53683B-50AE-624D-C7D3-C498E19189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pt-PT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F1318706-F83F-C488-532B-033377E0AB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69EB6-ABE0-4BF0-9770-7FF652D43FAE}" type="datetimeFigureOut">
              <a:rPr lang="pt-PT" smtClean="0"/>
              <a:t>15/04/2024</a:t>
            </a:fld>
            <a:endParaRPr lang="pt-PT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A56A4213-8DC6-C67C-BDD7-27A1D93C3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7E9108F-00CB-4BBE-083D-0D8C8061D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78F8EF-AD73-49BA-8349-CA3A518C48B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3436878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B7E01E-30EB-DAC4-F7F3-0D9119ECE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dirty="0"/>
              <a:t>Clique para editar o título Mestre</a:t>
            </a:r>
            <a:endParaRPr lang="pt-PT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4D3A5E4-44AC-40EC-51DA-F04C674A47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PT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A952A1D-C728-6136-3B49-9F71AB1F03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E2E9901-244F-B84A-161B-228A4003E5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69EB6-ABE0-4BF0-9770-7FF652D43FAE}" type="datetimeFigureOut">
              <a:rPr lang="pt-PT" smtClean="0"/>
              <a:t>15/04/2024</a:t>
            </a:fld>
            <a:endParaRPr lang="pt-PT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9D0238B4-9F32-58D5-2210-FC900F0AC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8353667-597C-06DF-6B4B-161703F6B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78F8EF-AD73-49BA-8349-CA3A518C48B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518859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66FB05-33C6-6A07-7767-03A5D4347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pt-PT"/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E0BABB72-D3D0-3DE6-7C22-055D3688BF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660A849-13EB-FD16-4EC4-94D7B56DFF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FD886A8-ECF5-41C8-60B6-34B92E90E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69EB6-ABE0-4BF0-9770-7FF652D43FAE}" type="datetimeFigureOut">
              <a:rPr lang="pt-PT" smtClean="0"/>
              <a:t>15/04/2024</a:t>
            </a:fld>
            <a:endParaRPr lang="pt-PT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056DA34-2345-975A-846A-F1EC7FE2B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3C00A947-6627-154F-CB52-EB3500E782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78F8EF-AD73-49BA-8349-CA3A518C48B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188098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68BD369-574B-1079-E594-61B0D05D6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pt-PT"/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01062F3E-E114-DD35-4836-C62A8B8B13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PT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22BE1EE-29C3-0643-C311-91F88E5C6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69EB6-ABE0-4BF0-9770-7FF652D43FAE}" type="datetimeFigureOut">
              <a:rPr lang="pt-PT" smtClean="0"/>
              <a:t>15/04/2024</a:t>
            </a:fld>
            <a:endParaRPr lang="pt-PT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B2A290B-99DC-0B85-D821-CAFCBA0470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F5CE86B-2A91-399C-F643-E647DD871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78F8EF-AD73-49BA-8349-CA3A518C48B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2493816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9284949-447F-87EA-5B46-A6A9AD7762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pt-PT"/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4C70BF0-A774-5BD4-2A70-63BA511207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PT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48DF2EE-3472-41DA-E68F-F376A413D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69EB6-ABE0-4BF0-9770-7FF652D43FAE}" type="datetimeFigureOut">
              <a:rPr lang="pt-PT" smtClean="0"/>
              <a:t>15/04/2024</a:t>
            </a:fld>
            <a:endParaRPr lang="pt-PT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08D1271-A3A4-040E-6D2D-CC7F6CA03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1808075-732D-927D-FB14-8EFAC88FB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78F8EF-AD73-49BA-8349-CA3A518C48B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6575921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978CDF-E4F0-209F-7FE4-21D31CB7F6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A1C8E3F-0ABC-AC03-F556-43563F6C83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3C50098-BBF8-7E4B-0141-0E782EB71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6A321-E797-4B52-A750-A2E05A88141B}" type="datetimeFigureOut">
              <a:rPr lang="pt-BR" smtClean="0"/>
              <a:t>15/04/2024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8876DBB-488B-381C-BAC1-87F8DDCA2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396937B-6165-8B3C-4629-9A5A928255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79532B-2C60-40E1-9CF1-24934010FC8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29787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F65F19C-4880-77E6-AF62-950D0CA7D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AF19E7E-B35D-8DB5-0287-D6BA26ED40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FEF4B3B-BBE1-3490-51E2-D77941BE6A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6A321-E797-4B52-A750-A2E05A88141B}" type="datetimeFigureOut">
              <a:rPr lang="pt-BR" smtClean="0"/>
              <a:t>15/04/2024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B858A72-F881-217F-D515-7C0EA097F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E6074C4-3DA1-82E3-1D2F-418C53015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79532B-2C60-40E1-9CF1-24934010FC8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893057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E98341-952C-36D7-AD70-187589F71E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D7AFE7C-A310-609F-670A-1736918AB1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BA21732-7394-3396-4318-D5997C0D4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6A321-E797-4B52-A750-A2E05A88141B}" type="datetimeFigureOut">
              <a:rPr lang="pt-BR" smtClean="0"/>
              <a:t>15/04/2024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42D52E0-6D9A-9458-4348-F6F98FECAA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B4AD42D-D6F1-6A3F-8BB9-D6D10B3C0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79532B-2C60-40E1-9CF1-24934010FC8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185839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F043DF-6150-79EF-476C-3D240B928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F628CB7-A6EA-4B3A-A00E-0E6AB26BB4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E168450-7386-7C27-F144-47A9E39243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FE5D8107-C854-B4CE-6347-760FEE697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6A321-E797-4B52-A750-A2E05A88141B}" type="datetimeFigureOut">
              <a:rPr lang="pt-BR" smtClean="0"/>
              <a:t>15/04/2024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F4F9C08-8C4F-3D64-D12D-C41F757ED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86CBC0F-49C1-98D2-E89A-438D3AD67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79532B-2C60-40E1-9CF1-24934010FC8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335990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BD3F44-0D05-392B-CFB9-2DDF77E627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66DACD4-D0F4-E581-C05B-6E1ADB0AFF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BD336EEB-138E-59D0-F9C7-3B3AB5D073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640C262-3E0E-85E6-40EF-7671706CD3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4A1476E-03B7-D21B-0E28-FD9DC59EBD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85843061-1224-77BB-A8D9-3D85329476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6A321-E797-4B52-A750-A2E05A88141B}" type="datetimeFigureOut">
              <a:rPr lang="pt-BR" smtClean="0"/>
              <a:t>15/04/2024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C5D63E5B-CECE-3846-CF05-18FE843F9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5FB8747-D565-8940-8FC3-7081BB1FC5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79532B-2C60-40E1-9CF1-24934010FC8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497199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C02ED3-2E2C-9845-E22F-0E7557985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E3C4D7B-B4A7-7AAE-20BD-F0DCF7ECD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6A321-E797-4B52-A750-A2E05A88141B}" type="datetimeFigureOut">
              <a:rPr lang="pt-BR" smtClean="0"/>
              <a:t>15/04/2024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86D3FE94-DFDD-4664-8F70-33D9A8409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C82ABB90-E482-B79D-4813-5ECE21493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79532B-2C60-40E1-9CF1-24934010FC8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912699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0555F9FF-060F-8DE8-81FF-BA7692300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6A321-E797-4B52-A750-A2E05A88141B}" type="datetimeFigureOut">
              <a:rPr lang="pt-BR" smtClean="0"/>
              <a:t>15/04/2024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150D20C7-0477-6E3E-ECC7-C3D2F7E50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9423E9C-8901-B505-8833-D9EA077B40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79532B-2C60-40E1-9CF1-24934010FC8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3112734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36D13B-03C8-DBF0-42E7-104A2B91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8A3036D-BC6A-ED78-168D-CA360BA54D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72B5BD44-BBEB-1E07-E89E-E578B76A26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E09BDD4-E1C4-8ED4-E543-0F663794F3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6A321-E797-4B52-A750-A2E05A88141B}" type="datetimeFigureOut">
              <a:rPr lang="pt-BR" smtClean="0"/>
              <a:t>15/04/2024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A99E469-32C9-AC53-D2EB-726CB72391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6952FE9-E678-961D-B249-D91353AC0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79532B-2C60-40E1-9CF1-24934010FC8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6320874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378240-D8CE-106B-49BA-CE1D6BED3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7A940B3C-5B3F-675B-0BD2-8BC3F8F579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6EF8921F-10D5-424B-3384-14A0B559AB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9E4FF6D-F519-EB9A-E11C-D08DE7C2E1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6A321-E797-4B52-A750-A2E05A88141B}" type="datetimeFigureOut">
              <a:rPr lang="pt-BR" smtClean="0"/>
              <a:t>15/04/2024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F9655E0-ADD3-55C6-DC7A-94EEF3B06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E95E268-A869-998E-213B-278877C881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79532B-2C60-40E1-9CF1-24934010FC8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881451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658CEB7-8B1D-7770-F8EB-3F5CA8255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8F485BC6-B18F-834D-7B7F-29934E814C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36B0A61-7121-E993-944C-F063E96412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6A321-E797-4B52-A750-A2E05A88141B}" type="datetimeFigureOut">
              <a:rPr lang="pt-BR" smtClean="0"/>
              <a:t>15/04/2024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9439DF8-1298-0D89-BBF0-515F2E256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0F6585C-0B03-6A95-F5CF-3A18032BE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79532B-2C60-40E1-9CF1-24934010FC8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6465186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D26AF30C-DB42-76CE-BF6D-0863A57E4E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0FEC935-571C-3EA2-4C3B-AA67075155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B962E4D-C47F-EBE1-6CAE-F27B43B69E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6A321-E797-4B52-A750-A2E05A88141B}" type="datetimeFigureOut">
              <a:rPr lang="pt-BR" smtClean="0"/>
              <a:t>15/04/2024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C72A5AC-6B8C-A173-826B-2102401FB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203F92C-5462-4A39-613E-22B627DB4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79532B-2C60-40E1-9CF1-24934010FC8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25024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1092B3B-652C-8663-4E76-D882D86B6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dirty="0"/>
              <a:t>Clique para editar o título Mestre</a:t>
            </a:r>
            <a:endParaRPr lang="pt-PT" dirty="0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913B8D3-E866-5EC7-05F3-53CCFF9A5B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dirty="0"/>
              <a:t>Clique para editar os estilos de texto Mestres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  <a:endParaRPr lang="pt-PT" dirty="0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A56D29E-6A32-6F01-4306-0D86C29547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F69EB6-ABE0-4BF0-9770-7FF652D43FAE}" type="datetimeFigureOut">
              <a:rPr lang="pt-PT" smtClean="0"/>
              <a:t>15/04/2024</a:t>
            </a:fld>
            <a:endParaRPr lang="pt-PT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721D701-EE77-3971-7428-4B526F822B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227F4FE-C988-9575-7DBD-EA809D2F39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78F8EF-AD73-49BA-8349-CA3A518C48B4}" type="slidenum">
              <a:rPr lang="pt-PT" smtClean="0"/>
              <a:t>‹nº›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141856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5" r:id="rId5"/>
    <p:sldLayoutId id="2147483672" r:id="rId6"/>
    <p:sldLayoutId id="2147483653" r:id="rId7"/>
    <p:sldLayoutId id="2147483654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CB3411BA-8EE7-B8C5-FD46-9F031553FA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F12CBD2-B045-DCDC-278B-E60AE84F45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4FBBAA3-DEFE-8F22-B22D-E5EC8193D2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66A321-E797-4B52-A750-A2E05A88141B}" type="datetimeFigureOut">
              <a:rPr lang="pt-BR" smtClean="0"/>
              <a:t>15/04/2024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AFCA548-F367-2B7B-5E29-93589973A6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789539C-F6E1-1A6D-F4CB-0F90DD2A28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79532B-2C60-40E1-9CF1-24934010FC8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07006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xpeducacao.com.br/dados-semiestruturados/" TargetMode="External"/><Relationship Id="rId2" Type="http://schemas.openxmlformats.org/officeDocument/2006/relationships/hyperlink" Target="https://blog.xpeducacao.com.br/bancos-de-dados-nosql/" TargetMode="Externa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support.microsoft.com/pt-br/office/xml-para-iniciantes-a87d234d-4c2e-4409-9cbc-45e4eb857d44" TargetMode="External"/><Relationship Id="rId2" Type="http://schemas.openxmlformats.org/officeDocument/2006/relationships/hyperlink" Target="https://en.wikipedia.org/wiki/XML" TargetMode="Externa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en.wikipedia.org/wiki/JSON" TargetMode="Externa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pt.wikipedia.org/wiki/Comma-separated_values" TargetMode="Externa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pt.wikipedia.org/wiki/YAML" TargetMode="Externa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pache/parquet-format" TargetMode="External"/><Relationship Id="rId2" Type="http://schemas.openxmlformats.org/officeDocument/2006/relationships/hyperlink" Target="https://en.wikipedia.org/wiki/Apache_Parquet" TargetMode="Externa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3.gi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avro.apache.org/docs/1.11.1/specification/_print/" TargetMode="External"/><Relationship Id="rId2" Type="http://schemas.openxmlformats.org/officeDocument/2006/relationships/hyperlink" Target="https://en.wikipedia.org/wiki/Apache_Avro" TargetMode="Externa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arrow.apache.org/docs/python/feather.html" TargetMode="Externa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19026A-387E-16D5-1033-816ADC6284D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pt-BR" dirty="0"/>
              <a:t>Introdução a linguagem R</a:t>
            </a:r>
          </a:p>
        </p:txBody>
      </p:sp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E28EF602-5EFC-80E3-0254-2026376BCE44}"/>
              </a:ext>
            </a:extLst>
          </p:cNvPr>
          <p:cNvCxnSpPr>
            <a:cxnSpLocks/>
          </p:cNvCxnSpPr>
          <p:nvPr/>
        </p:nvCxnSpPr>
        <p:spPr>
          <a:xfrm flipH="1" flipV="1">
            <a:off x="7343192" y="5886820"/>
            <a:ext cx="1082351" cy="372907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7" name="Imagem 6" descr="Logotipo, Ícone&#10;&#10;Descrição gerada automaticamente">
            <a:extLst>
              <a:ext uri="{FF2B5EF4-FFF2-40B4-BE49-F238E27FC236}">
                <a16:creationId xmlns:a16="http://schemas.microsoft.com/office/drawing/2014/main" id="{3A9A2A42-F2D3-C423-8F36-B78EDA7140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9940" y="4776255"/>
            <a:ext cx="1043188" cy="808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38902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aixaDeTexto 8">
            <a:extLst>
              <a:ext uri="{FF2B5EF4-FFF2-40B4-BE49-F238E27FC236}">
                <a16:creationId xmlns:a16="http://schemas.microsoft.com/office/drawing/2014/main" id="{AB6B2B45-9898-B2A8-4585-D78E8A2EB99F}"/>
              </a:ext>
            </a:extLst>
          </p:cNvPr>
          <p:cNvSpPr txBox="1"/>
          <p:nvPr/>
        </p:nvSpPr>
        <p:spPr>
          <a:xfrm>
            <a:off x="4143984" y="1067316"/>
            <a:ext cx="380351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323E56"/>
                </a:solidFill>
                <a:latin typeface="+mj-lt"/>
              </a:rPr>
              <a:t>Conteúdo</a:t>
            </a:r>
            <a:endParaRPr lang="pt-BR" sz="3200" dirty="0">
              <a:solidFill>
                <a:srgbClr val="323E56"/>
              </a:solidFill>
            </a:endParaRP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ABEFCCA8-5E0D-1CA8-FE4C-78238745C6DF}"/>
              </a:ext>
            </a:extLst>
          </p:cNvPr>
          <p:cNvSpPr txBox="1"/>
          <p:nvPr/>
        </p:nvSpPr>
        <p:spPr>
          <a:xfrm>
            <a:off x="4143984" y="1951672"/>
            <a:ext cx="753539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>
                <a:latin typeface="DiN" panose="020B0604020202020204" charset="0"/>
              </a:rPr>
              <a:t>Introdução a lógica de programação;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>
                <a:latin typeface="DiN" panose="020B0604020202020204" charset="0"/>
              </a:rPr>
              <a:t>Introdução a linguagem de programação R;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>
                <a:latin typeface="DiN" panose="020B0604020202020204" charset="0"/>
              </a:rPr>
              <a:t>Variáveis;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>
                <a:latin typeface="DiN" panose="020B0604020202020204" charset="0"/>
              </a:rPr>
              <a:t>Estruturas de controle;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>
                <a:latin typeface="DiN" panose="020B0604020202020204" charset="0"/>
              </a:rPr>
              <a:t>Estruturas de repetição;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>
                <a:latin typeface="DiN" panose="020B0604020202020204" charset="0"/>
              </a:rPr>
              <a:t>Estruturas de dados.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b="1" dirty="0" err="1">
                <a:latin typeface="DiN" panose="020B0604020202020204" charset="0"/>
              </a:rPr>
              <a:t>Backends</a:t>
            </a:r>
            <a:r>
              <a:rPr lang="pt-BR" b="1" dirty="0">
                <a:latin typeface="DiN" panose="020B0604020202020204" charset="0"/>
              </a:rPr>
              <a:t> </a:t>
            </a:r>
            <a:r>
              <a:rPr lang="pt-BR" b="1" dirty="0" err="1">
                <a:latin typeface="DiN" panose="020B0604020202020204" charset="0"/>
              </a:rPr>
              <a:t>dplyr</a:t>
            </a:r>
            <a:r>
              <a:rPr lang="pt-BR" b="1" dirty="0">
                <a:latin typeface="DiN" panose="020B0604020202020204" charset="0"/>
              </a:rPr>
              <a:t>: </a:t>
            </a:r>
            <a:r>
              <a:rPr lang="pt-BR" b="1" dirty="0" err="1">
                <a:latin typeface="DiN" panose="020B0604020202020204" charset="0"/>
              </a:rPr>
              <a:t>dbplyr</a:t>
            </a:r>
            <a:r>
              <a:rPr lang="pt-BR" b="1" dirty="0">
                <a:latin typeface="DiN" panose="020B0604020202020204" charset="0"/>
              </a:rPr>
              <a:t>, </a:t>
            </a:r>
            <a:r>
              <a:rPr lang="pt-BR" b="1" dirty="0" err="1">
                <a:latin typeface="DiN" panose="020B0604020202020204" charset="0"/>
              </a:rPr>
              <a:t>dtplyr</a:t>
            </a:r>
            <a:r>
              <a:rPr lang="pt-BR" b="1" dirty="0">
                <a:latin typeface="DiN" panose="020B0604020202020204" charset="0"/>
              </a:rPr>
              <a:t> e </a:t>
            </a:r>
            <a:r>
              <a:rPr lang="pt-BR" b="1" dirty="0" err="1">
                <a:latin typeface="DiN" panose="020B0604020202020204" charset="0"/>
              </a:rPr>
              <a:t>arrow</a:t>
            </a:r>
            <a:endParaRPr lang="pt-BR" b="1" dirty="0">
              <a:latin typeface="DiN" panose="020B060402020202020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>
                <a:latin typeface="DiN" panose="020B0604020202020204" charset="0"/>
              </a:rPr>
              <a:t>Pacotes </a:t>
            </a:r>
            <a:r>
              <a:rPr lang="pt-BR" dirty="0" err="1">
                <a:latin typeface="DiN" panose="020B0604020202020204" charset="0"/>
              </a:rPr>
              <a:t>Tidyverse</a:t>
            </a:r>
            <a:endParaRPr lang="pt-BR" dirty="0">
              <a:latin typeface="DiN" panose="020B060402020202020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>
                <a:latin typeface="DiN" panose="020B0604020202020204" charset="0"/>
              </a:rPr>
              <a:t>Extraindo valor de dados;</a:t>
            </a:r>
            <a:endParaRPr lang="pt-BR" b="1" dirty="0">
              <a:latin typeface="DiN" panose="020B060402020202020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>
                <a:latin typeface="DiN" panose="020B0604020202020204" charset="0"/>
              </a:rPr>
              <a:t>Ferramentas modernas para dados: </a:t>
            </a:r>
            <a:r>
              <a:rPr lang="pt-BR" dirty="0" err="1">
                <a:latin typeface="DiN" panose="020B0604020202020204" charset="0"/>
              </a:rPr>
              <a:t>Polars</a:t>
            </a:r>
            <a:r>
              <a:rPr lang="pt-BR" dirty="0">
                <a:latin typeface="DiN" panose="020B0604020202020204" charset="0"/>
              </a:rPr>
              <a:t> e </a:t>
            </a:r>
            <a:r>
              <a:rPr lang="pt-BR" dirty="0" err="1">
                <a:latin typeface="DiN" panose="020B0604020202020204" charset="0"/>
              </a:rPr>
              <a:t>DuckDB</a:t>
            </a:r>
            <a:endParaRPr lang="pt-BR" dirty="0">
              <a:latin typeface="DiN" panose="020B060402020202020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dirty="0">
              <a:latin typeface="DiN" panose="020B060402020202020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dirty="0">
              <a:latin typeface="DiN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00641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302985B-5D03-CFF2-3BDF-F7034B0D0F4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586475D-F526-B0E3-9954-1F4C039C322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pt-BR" dirty="0"/>
              <a:t>Tipos de Dados</a:t>
            </a:r>
          </a:p>
        </p:txBody>
      </p:sp>
      <p:pic>
        <p:nvPicPr>
          <p:cNvPr id="2" name="Imagem 1" descr="Logotipo, Ícone&#10;&#10;Descrição gerada automaticamente">
            <a:extLst>
              <a:ext uri="{FF2B5EF4-FFF2-40B4-BE49-F238E27FC236}">
                <a16:creationId xmlns:a16="http://schemas.microsoft.com/office/drawing/2014/main" id="{EA49E255-B869-B479-AF2B-0676604F33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77758" y="3695601"/>
            <a:ext cx="1043188" cy="808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65418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Número de Slide 1">
            <a:extLst>
              <a:ext uri="{FF2B5EF4-FFF2-40B4-BE49-F238E27FC236}">
                <a16:creationId xmlns:a16="http://schemas.microsoft.com/office/drawing/2014/main" id="{30BD66D1-29D7-51E2-2BAC-9D326CD67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78F8EF-AD73-49BA-8349-CA3A518C48B4}" type="slidenum">
              <a:rPr lang="pt-PT" smtClean="0"/>
              <a:pPr/>
              <a:t>4</a:t>
            </a:fld>
            <a:endParaRPr lang="pt-PT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876B6E0-9526-82A9-77B8-5580055F93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33421" y="16932"/>
            <a:ext cx="6119754" cy="615366"/>
          </a:xfrm>
        </p:spPr>
        <p:txBody>
          <a:bodyPr anchor="ctr"/>
          <a:lstStyle/>
          <a:p>
            <a:r>
              <a:rPr lang="pt-BR" sz="2400" dirty="0"/>
              <a:t>Tipos de dados</a:t>
            </a:r>
          </a:p>
        </p:txBody>
      </p:sp>
      <p:graphicFrame>
        <p:nvGraphicFramePr>
          <p:cNvPr id="5" name="Tabela 4">
            <a:extLst>
              <a:ext uri="{FF2B5EF4-FFF2-40B4-BE49-F238E27FC236}">
                <a16:creationId xmlns:a16="http://schemas.microsoft.com/office/drawing/2014/main" id="{3C382B20-3032-B5C8-0D1A-E594EC63CB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0144164"/>
              </p:ext>
            </p:extLst>
          </p:nvPr>
        </p:nvGraphicFramePr>
        <p:xfrm>
          <a:off x="867694" y="1249016"/>
          <a:ext cx="10456612" cy="4359967"/>
        </p:xfrm>
        <a:graphic>
          <a:graphicData uri="http://schemas.openxmlformats.org/drawingml/2006/table">
            <a:tbl>
              <a:tblPr/>
              <a:tblGrid>
                <a:gridCol w="2614153">
                  <a:extLst>
                    <a:ext uri="{9D8B030D-6E8A-4147-A177-3AD203B41FA5}">
                      <a16:colId xmlns:a16="http://schemas.microsoft.com/office/drawing/2014/main" val="4279469351"/>
                    </a:ext>
                  </a:extLst>
                </a:gridCol>
                <a:gridCol w="2614153">
                  <a:extLst>
                    <a:ext uri="{9D8B030D-6E8A-4147-A177-3AD203B41FA5}">
                      <a16:colId xmlns:a16="http://schemas.microsoft.com/office/drawing/2014/main" val="631420386"/>
                    </a:ext>
                  </a:extLst>
                </a:gridCol>
                <a:gridCol w="2614153">
                  <a:extLst>
                    <a:ext uri="{9D8B030D-6E8A-4147-A177-3AD203B41FA5}">
                      <a16:colId xmlns:a16="http://schemas.microsoft.com/office/drawing/2014/main" val="3748184958"/>
                    </a:ext>
                  </a:extLst>
                </a:gridCol>
                <a:gridCol w="2614153">
                  <a:extLst>
                    <a:ext uri="{9D8B030D-6E8A-4147-A177-3AD203B41FA5}">
                      <a16:colId xmlns:a16="http://schemas.microsoft.com/office/drawing/2014/main" val="2651064419"/>
                    </a:ext>
                  </a:extLst>
                </a:gridCol>
              </a:tblGrid>
              <a:tr h="517856">
                <a:tc>
                  <a:txBody>
                    <a:bodyPr/>
                    <a:lstStyle/>
                    <a:p>
                      <a:r>
                        <a:rPr lang="pt-BR" sz="1600" b="1">
                          <a:effectLst/>
                        </a:rPr>
                        <a:t>Característica</a:t>
                      </a:r>
                      <a:endParaRPr lang="pt-BR" sz="1600">
                        <a:effectLst/>
                      </a:endParaRPr>
                    </a:p>
                  </a:txBody>
                  <a:tcPr marL="67254" marR="67254" marT="16814" marB="16814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600" b="1">
                          <a:effectLst/>
                        </a:rPr>
                        <a:t>Dados Estruturados</a:t>
                      </a:r>
                      <a:endParaRPr lang="pt-BR" sz="1600">
                        <a:effectLst/>
                      </a:endParaRPr>
                    </a:p>
                  </a:txBody>
                  <a:tcPr marL="67254" marR="67254" marT="16814" marB="16814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600" b="1">
                          <a:effectLst/>
                        </a:rPr>
                        <a:t>Dados Não Estruturados</a:t>
                      </a:r>
                      <a:endParaRPr lang="pt-BR" sz="1600">
                        <a:effectLst/>
                      </a:endParaRPr>
                    </a:p>
                  </a:txBody>
                  <a:tcPr marL="67254" marR="67254" marT="16814" marB="16814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600" b="1">
                          <a:effectLst/>
                        </a:rPr>
                        <a:t>Dados Semiestruturados</a:t>
                      </a:r>
                      <a:endParaRPr lang="pt-BR" sz="1600">
                        <a:effectLst/>
                      </a:endParaRPr>
                    </a:p>
                  </a:txBody>
                  <a:tcPr marL="67254" marR="67254" marT="16814" marB="16814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390786"/>
                  </a:ext>
                </a:extLst>
              </a:tr>
              <a:tr h="759971">
                <a:tc>
                  <a:txBody>
                    <a:bodyPr/>
                    <a:lstStyle/>
                    <a:p>
                      <a:r>
                        <a:rPr lang="pt-BR" sz="1600" b="1">
                          <a:effectLst/>
                        </a:rPr>
                        <a:t>Natureza</a:t>
                      </a:r>
                      <a:endParaRPr lang="pt-BR" sz="1600">
                        <a:effectLst/>
                      </a:endParaRPr>
                    </a:p>
                  </a:txBody>
                  <a:tcPr marL="67254" marR="67254" marT="16814" marB="16814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600">
                          <a:effectLst/>
                        </a:rPr>
                        <a:t>Usualmente quantitativa</a:t>
                      </a:r>
                    </a:p>
                  </a:txBody>
                  <a:tcPr marL="67254" marR="67254" marT="16814" marB="16814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600">
                          <a:effectLst/>
                        </a:rPr>
                        <a:t>Usualmente qualitativa</a:t>
                      </a:r>
                    </a:p>
                  </a:txBody>
                  <a:tcPr marL="67254" marR="67254" marT="16814" marB="16814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600">
                          <a:effectLst/>
                        </a:rPr>
                        <a:t>Pode ser quantitativa e qualitativa</a:t>
                      </a:r>
                    </a:p>
                  </a:txBody>
                  <a:tcPr marL="67254" marR="67254" marT="16814" marB="16814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5749066"/>
                  </a:ext>
                </a:extLst>
              </a:tr>
              <a:tr h="759971">
                <a:tc>
                  <a:txBody>
                    <a:bodyPr/>
                    <a:lstStyle/>
                    <a:p>
                      <a:r>
                        <a:rPr lang="pt-BR" sz="1600" b="1">
                          <a:effectLst/>
                        </a:rPr>
                        <a:t>Modelo</a:t>
                      </a:r>
                      <a:endParaRPr lang="pt-BR" sz="1600">
                        <a:effectLst/>
                      </a:endParaRPr>
                    </a:p>
                  </a:txBody>
                  <a:tcPr marL="67254" marR="67254" marT="16814" marB="16814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600">
                          <a:effectLst/>
                        </a:rPr>
                        <a:t>Predefinido e é difícil alterá-lo</a:t>
                      </a:r>
                    </a:p>
                  </a:txBody>
                  <a:tcPr marL="67254" marR="67254" marT="16814" marB="16814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600">
                          <a:effectLst/>
                        </a:rPr>
                        <a:t>Modelo bem flexível</a:t>
                      </a:r>
                    </a:p>
                  </a:txBody>
                  <a:tcPr marL="67254" marR="67254" marT="16814" marB="16814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600">
                          <a:effectLst/>
                        </a:rPr>
                        <a:t>Tem flexibilidade, mas também possui estrutura </a:t>
                      </a:r>
                    </a:p>
                  </a:txBody>
                  <a:tcPr marL="67254" marR="67254" marT="16814" marB="16814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553371"/>
                  </a:ext>
                </a:extLst>
              </a:tr>
              <a:tr h="517856">
                <a:tc>
                  <a:txBody>
                    <a:bodyPr/>
                    <a:lstStyle/>
                    <a:p>
                      <a:r>
                        <a:rPr lang="pt-BR" sz="1600" b="1">
                          <a:effectLst/>
                        </a:rPr>
                        <a:t>Formato</a:t>
                      </a:r>
                      <a:endParaRPr lang="pt-BR" sz="1600">
                        <a:effectLst/>
                      </a:endParaRPr>
                    </a:p>
                  </a:txBody>
                  <a:tcPr marL="67254" marR="67254" marT="16814" marB="16814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600">
                          <a:effectLst/>
                        </a:rPr>
                        <a:t>Número limitado de formato de dados</a:t>
                      </a:r>
                    </a:p>
                  </a:txBody>
                  <a:tcPr marL="67254" marR="67254" marT="16814" marB="16814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600">
                          <a:effectLst/>
                        </a:rPr>
                        <a:t>Grande variedade de formatos de dados</a:t>
                      </a:r>
                    </a:p>
                  </a:txBody>
                  <a:tcPr marL="67254" marR="67254" marT="16814" marB="16814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600">
                          <a:effectLst/>
                        </a:rPr>
                        <a:t>Diversa variedade de formatos</a:t>
                      </a:r>
                    </a:p>
                  </a:txBody>
                  <a:tcPr marL="67254" marR="67254" marT="16814" marB="16814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5104684"/>
                  </a:ext>
                </a:extLst>
              </a:tr>
              <a:tr h="517856">
                <a:tc>
                  <a:txBody>
                    <a:bodyPr/>
                    <a:lstStyle/>
                    <a:p>
                      <a:r>
                        <a:rPr lang="pt-BR" sz="1600" b="1">
                          <a:effectLst/>
                        </a:rPr>
                        <a:t>Banco de dados</a:t>
                      </a:r>
                      <a:endParaRPr lang="pt-BR" sz="1600">
                        <a:effectLst/>
                      </a:endParaRPr>
                    </a:p>
                  </a:txBody>
                  <a:tcPr marL="67254" marR="67254" marT="16814" marB="16814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600">
                          <a:effectLst/>
                        </a:rPr>
                        <a:t>Bancos baseados em SQL são utilizados</a:t>
                      </a:r>
                    </a:p>
                  </a:txBody>
                  <a:tcPr marL="67254" marR="67254" marT="16814" marB="16814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600" u="none" strike="noStrike">
                          <a:effectLst/>
                          <a:hlinkClick r:id="rId2"/>
                        </a:rPr>
                        <a:t>Bancos de dados NoSQL</a:t>
                      </a:r>
                      <a:endParaRPr lang="pt-BR" sz="1600">
                        <a:effectLst/>
                      </a:endParaRPr>
                    </a:p>
                  </a:txBody>
                  <a:tcPr marL="67254" marR="67254" marT="16814" marB="16814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600" dirty="0">
                          <a:effectLst/>
                        </a:rPr>
                        <a:t>Bancos de dados relacionais </a:t>
                      </a:r>
                    </a:p>
                  </a:txBody>
                  <a:tcPr marL="67254" marR="67254" marT="16814" marB="16814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860353"/>
                  </a:ext>
                </a:extLst>
              </a:tr>
              <a:tr h="1002085">
                <a:tc>
                  <a:txBody>
                    <a:bodyPr/>
                    <a:lstStyle/>
                    <a:p>
                      <a:r>
                        <a:rPr lang="pt-BR" sz="1600" b="1">
                          <a:effectLst/>
                        </a:rPr>
                        <a:t>Pesquisa</a:t>
                      </a:r>
                      <a:endParaRPr lang="pt-BR" sz="1600">
                        <a:effectLst/>
                      </a:endParaRPr>
                    </a:p>
                  </a:txBody>
                  <a:tcPr marL="67254" marR="67254" marT="16814" marB="16814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600">
                          <a:effectLst/>
                        </a:rPr>
                        <a:t>Fácil e rápido para localizar e pesquisar esses dados</a:t>
                      </a:r>
                    </a:p>
                  </a:txBody>
                  <a:tcPr marL="67254" marR="67254" marT="16814" marB="16814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600">
                          <a:effectLst/>
                        </a:rPr>
                        <a:t>Como não tem estruturas, é muito difícil procurar esses dados</a:t>
                      </a:r>
                    </a:p>
                  </a:txBody>
                  <a:tcPr marL="67254" marR="67254" marT="16814" marB="16814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600">
                          <a:effectLst/>
                        </a:rPr>
                        <a:t>Pesquisa difícil, mas não tanto quanto nos não estruturados </a:t>
                      </a:r>
                    </a:p>
                  </a:txBody>
                  <a:tcPr marL="67254" marR="67254" marT="16814" marB="16814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5283805"/>
                  </a:ext>
                </a:extLst>
              </a:tr>
              <a:tr h="275742">
                <a:tc>
                  <a:txBody>
                    <a:bodyPr/>
                    <a:lstStyle/>
                    <a:p>
                      <a:r>
                        <a:rPr lang="pt-BR" sz="1600" b="1">
                          <a:effectLst/>
                        </a:rPr>
                        <a:t>Análise</a:t>
                      </a:r>
                      <a:endParaRPr lang="pt-BR" sz="1600">
                        <a:effectLst/>
                      </a:endParaRPr>
                    </a:p>
                  </a:txBody>
                  <a:tcPr marL="67254" marR="67254" marT="16814" marB="16814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600">
                          <a:effectLst/>
                        </a:rPr>
                        <a:t>Fácil análise</a:t>
                      </a:r>
                    </a:p>
                  </a:txBody>
                  <a:tcPr marL="67254" marR="67254" marT="16814" marB="16814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600">
                          <a:effectLst/>
                        </a:rPr>
                        <a:t>Análise difícil</a:t>
                      </a:r>
                    </a:p>
                  </a:txBody>
                  <a:tcPr marL="67254" marR="67254" marT="16814" marB="16814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600" dirty="0">
                          <a:effectLst/>
                        </a:rPr>
                        <a:t>Análise difícil</a:t>
                      </a:r>
                    </a:p>
                  </a:txBody>
                  <a:tcPr marL="67254" marR="67254" marT="16814" marB="16814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0722554"/>
                  </a:ext>
                </a:extLst>
              </a:tr>
            </a:tbl>
          </a:graphicData>
        </a:graphic>
      </p:graphicFrame>
      <p:sp>
        <p:nvSpPr>
          <p:cNvPr id="7" name="CaixaDeTexto 6">
            <a:extLst>
              <a:ext uri="{FF2B5EF4-FFF2-40B4-BE49-F238E27FC236}">
                <a16:creationId xmlns:a16="http://schemas.microsoft.com/office/drawing/2014/main" id="{2F2B6B08-D801-529A-2C22-900021820CD5}"/>
              </a:ext>
            </a:extLst>
          </p:cNvPr>
          <p:cNvSpPr txBox="1"/>
          <p:nvPr/>
        </p:nvSpPr>
        <p:spPr>
          <a:xfrm>
            <a:off x="233421" y="6028687"/>
            <a:ext cx="74937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hlinkClick r:id="rId3"/>
              </a:rPr>
              <a:t>O que são dados semiestruturados e como organizá-los? (xpeducacao.com.br)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357897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302985B-5D03-CFF2-3BDF-F7034B0D0F4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586475D-F526-B0E3-9954-1F4C039C322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pt-BR" dirty="0"/>
              <a:t>Tipos de Arquivos</a:t>
            </a:r>
          </a:p>
        </p:txBody>
      </p:sp>
      <p:pic>
        <p:nvPicPr>
          <p:cNvPr id="2" name="Imagem 1" descr="Logotipo, Ícone&#10;&#10;Descrição gerada automaticamente">
            <a:extLst>
              <a:ext uri="{FF2B5EF4-FFF2-40B4-BE49-F238E27FC236}">
                <a16:creationId xmlns:a16="http://schemas.microsoft.com/office/drawing/2014/main" id="{EA49E255-B869-B479-AF2B-0676604F33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77758" y="3695601"/>
            <a:ext cx="1043188" cy="808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7026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Número de Slide 1">
            <a:extLst>
              <a:ext uri="{FF2B5EF4-FFF2-40B4-BE49-F238E27FC236}">
                <a16:creationId xmlns:a16="http://schemas.microsoft.com/office/drawing/2014/main" id="{30BD66D1-29D7-51E2-2BAC-9D326CD67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78F8EF-AD73-49BA-8349-CA3A518C48B4}" type="slidenum">
              <a:rPr lang="pt-PT" smtClean="0"/>
              <a:pPr/>
              <a:t>6</a:t>
            </a:fld>
            <a:endParaRPr lang="pt-PT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876B6E0-9526-82A9-77B8-5580055F93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33421" y="16932"/>
            <a:ext cx="6119754" cy="615366"/>
          </a:xfrm>
        </p:spPr>
        <p:txBody>
          <a:bodyPr anchor="ctr"/>
          <a:lstStyle/>
          <a:p>
            <a:r>
              <a:rPr lang="pt-BR" sz="2400" dirty="0"/>
              <a:t>XML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4B0AB9EE-F414-BE00-AE32-8865551BD2D0}"/>
              </a:ext>
            </a:extLst>
          </p:cNvPr>
          <p:cNvSpPr txBox="1"/>
          <p:nvPr/>
        </p:nvSpPr>
        <p:spPr>
          <a:xfrm>
            <a:off x="233421" y="6028687"/>
            <a:ext cx="1713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hlinkClick r:id="rId2"/>
              </a:rPr>
              <a:t>XML - Wikipedia</a:t>
            </a:r>
            <a:endParaRPr lang="pt-BR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81466299-DF9E-F769-3CBA-F141DB8DD9B8}"/>
              </a:ext>
            </a:extLst>
          </p:cNvPr>
          <p:cNvSpPr txBox="1"/>
          <p:nvPr/>
        </p:nvSpPr>
        <p:spPr>
          <a:xfrm>
            <a:off x="6096000" y="931867"/>
            <a:ext cx="5891356" cy="5355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breakfast_menu</a:t>
            </a:r>
            <a:r>
              <a:rPr lang="en-US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&gt;</a:t>
            </a:r>
          </a:p>
          <a:p>
            <a:pPr lvl="1"/>
            <a:r>
              <a:rPr lang="en-US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&lt;food&gt;</a:t>
            </a:r>
          </a:p>
          <a:p>
            <a:pPr lvl="2"/>
            <a:r>
              <a:rPr lang="en-US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&lt;name&gt;</a:t>
            </a:r>
          </a:p>
          <a:p>
            <a:pPr lvl="2"/>
            <a:r>
              <a:rPr lang="en-US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Belgian Waffles</a:t>
            </a:r>
          </a:p>
          <a:p>
            <a:pPr lvl="2"/>
            <a:r>
              <a:rPr lang="en-US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&lt;/name&gt;</a:t>
            </a:r>
          </a:p>
          <a:p>
            <a:pPr lvl="2"/>
            <a:r>
              <a:rPr lang="en-US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&lt;price&gt;</a:t>
            </a:r>
          </a:p>
          <a:p>
            <a:pPr lvl="2"/>
            <a:r>
              <a:rPr lang="en-US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$5.95</a:t>
            </a:r>
          </a:p>
          <a:p>
            <a:pPr lvl="2"/>
            <a:r>
              <a:rPr lang="en-US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&lt;/price&gt;</a:t>
            </a:r>
          </a:p>
          <a:p>
            <a:pPr lvl="2"/>
            <a:r>
              <a:rPr lang="en-US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&lt;description&gt; </a:t>
            </a:r>
          </a:p>
          <a:p>
            <a:pPr lvl="2"/>
            <a:r>
              <a:rPr 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	</a:t>
            </a:r>
            <a:r>
              <a:rPr lang="en-US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Two of our famous Belgian </a:t>
            </a:r>
          </a:p>
          <a:p>
            <a:pPr lvl="2"/>
            <a:r>
              <a:rPr 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	</a:t>
            </a:r>
            <a:r>
              <a:rPr lang="en-US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Waffles with plenty of real </a:t>
            </a:r>
          </a:p>
          <a:p>
            <a:pPr lvl="2"/>
            <a:r>
              <a:rPr 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	</a:t>
            </a:r>
            <a:r>
              <a:rPr lang="en-US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maple syrup</a:t>
            </a:r>
          </a:p>
          <a:p>
            <a:pPr lvl="2"/>
            <a:r>
              <a:rPr lang="en-US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&lt;/description&gt;</a:t>
            </a:r>
          </a:p>
          <a:p>
            <a:pPr lvl="2"/>
            <a:r>
              <a:rPr lang="en-US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&lt;calories&gt;</a:t>
            </a:r>
          </a:p>
          <a:p>
            <a:pPr lvl="2"/>
            <a:r>
              <a:rPr lang="en-US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650</a:t>
            </a:r>
          </a:p>
          <a:p>
            <a:pPr lvl="2"/>
            <a:r>
              <a:rPr lang="en-US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&lt;/calories&gt;</a:t>
            </a:r>
          </a:p>
          <a:p>
            <a:pPr lvl="1"/>
            <a:r>
              <a:rPr lang="en-US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&lt;/food&gt;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&lt;/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breakfast_menu</a:t>
            </a:r>
            <a:r>
              <a:rPr lang="en-US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&gt;</a:t>
            </a:r>
          </a:p>
          <a:p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E1E087-AA42-3667-7FF3-85107C1B3B55}"/>
              </a:ext>
            </a:extLst>
          </p:cNvPr>
          <p:cNvSpPr txBox="1"/>
          <p:nvPr/>
        </p:nvSpPr>
        <p:spPr>
          <a:xfrm>
            <a:off x="233421" y="5659355"/>
            <a:ext cx="4173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hlinkClick r:id="rId3"/>
              </a:rPr>
              <a:t>XML para iniciantes - Suporte da Microsoft</a:t>
            </a:r>
            <a:endParaRPr lang="pt-BR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F08939C5-B6CB-C7DE-DC7A-8F8767398CDB}"/>
              </a:ext>
            </a:extLst>
          </p:cNvPr>
          <p:cNvSpPr txBox="1"/>
          <p:nvPr/>
        </p:nvSpPr>
        <p:spPr>
          <a:xfrm>
            <a:off x="233421" y="2505670"/>
            <a:ext cx="481689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Formato não-binário: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Representa informações a partir de elementos</a:t>
            </a:r>
            <a:br>
              <a:rPr lang="pt-BR" dirty="0"/>
            </a:br>
            <a:r>
              <a:rPr lang="pt-BR" dirty="0"/>
              <a:t>definidos por ‘</a:t>
            </a:r>
            <a:r>
              <a:rPr lang="pt-BR" dirty="0" err="1"/>
              <a:t>tags</a:t>
            </a:r>
            <a:r>
              <a:rPr lang="pt-BR" dirty="0"/>
              <a:t>’;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Possui um </a:t>
            </a:r>
            <a:r>
              <a:rPr lang="pt-BR" dirty="0" err="1"/>
              <a:t>schema</a:t>
            </a:r>
            <a:r>
              <a:rPr lang="pt-BR" dirty="0"/>
              <a:t>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 busca por valores neste tipo de arquivo </a:t>
            </a:r>
            <a:br>
              <a:rPr lang="pt-BR" dirty="0"/>
            </a:br>
            <a:r>
              <a:rPr lang="pt-BR" dirty="0"/>
              <a:t>pode ser complexa.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145354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Número de Slide 1">
            <a:extLst>
              <a:ext uri="{FF2B5EF4-FFF2-40B4-BE49-F238E27FC236}">
                <a16:creationId xmlns:a16="http://schemas.microsoft.com/office/drawing/2014/main" id="{30BD66D1-29D7-51E2-2BAC-9D326CD67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78F8EF-AD73-49BA-8349-CA3A518C48B4}" type="slidenum">
              <a:rPr lang="pt-PT" smtClean="0"/>
              <a:pPr/>
              <a:t>7</a:t>
            </a:fld>
            <a:endParaRPr lang="pt-PT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876B6E0-9526-82A9-77B8-5580055F93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33421" y="16932"/>
            <a:ext cx="6119754" cy="615366"/>
          </a:xfrm>
        </p:spPr>
        <p:txBody>
          <a:bodyPr anchor="ctr"/>
          <a:lstStyle/>
          <a:p>
            <a:r>
              <a:rPr lang="pt-BR" sz="2400" dirty="0"/>
              <a:t>JSON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9370FA36-FBC2-0716-DDB0-723D852B118C}"/>
              </a:ext>
            </a:extLst>
          </p:cNvPr>
          <p:cNvSpPr txBox="1"/>
          <p:nvPr/>
        </p:nvSpPr>
        <p:spPr>
          <a:xfrm>
            <a:off x="233421" y="6028687"/>
            <a:ext cx="18703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hlinkClick r:id="rId2"/>
              </a:rPr>
              <a:t>JSON - Wikipedia</a:t>
            </a: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A8DB6F7-CB5E-2769-F4F1-ACE5F004ACD8}"/>
              </a:ext>
            </a:extLst>
          </p:cNvPr>
          <p:cNvSpPr txBox="1"/>
          <p:nvPr/>
        </p:nvSpPr>
        <p:spPr>
          <a:xfrm>
            <a:off x="233421" y="2505670"/>
            <a:ext cx="4982903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Formato não-binário: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Representa informações a partir de elementos</a:t>
            </a:r>
            <a:br>
              <a:rPr lang="pt-BR" dirty="0"/>
            </a:br>
            <a:r>
              <a:rPr lang="pt-BR" dirty="0"/>
              <a:t>definidos por ‘nós’;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 busca por valores neste tipo de arquivo </a:t>
            </a:r>
            <a:br>
              <a:rPr lang="pt-BR" dirty="0"/>
            </a:br>
            <a:r>
              <a:rPr lang="pt-BR" dirty="0"/>
              <a:t>pode ser complexa;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Buscas efetivas podem depender de bibliotecas.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E745EA40-3614-0F5F-4C26-C70C8C5002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1956" y="1137908"/>
            <a:ext cx="6087183" cy="4582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27365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Número de Slide 1">
            <a:extLst>
              <a:ext uri="{FF2B5EF4-FFF2-40B4-BE49-F238E27FC236}">
                <a16:creationId xmlns:a16="http://schemas.microsoft.com/office/drawing/2014/main" id="{30BD66D1-29D7-51E2-2BAC-9D326CD67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78F8EF-AD73-49BA-8349-CA3A518C48B4}" type="slidenum">
              <a:rPr lang="pt-PT" smtClean="0"/>
              <a:pPr/>
              <a:t>8</a:t>
            </a:fld>
            <a:endParaRPr lang="pt-PT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876B6E0-9526-82A9-77B8-5580055F93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33421" y="16932"/>
            <a:ext cx="6119754" cy="615366"/>
          </a:xfrm>
        </p:spPr>
        <p:txBody>
          <a:bodyPr anchor="ctr"/>
          <a:lstStyle/>
          <a:p>
            <a:r>
              <a:rPr lang="pt-BR" sz="2400" dirty="0"/>
              <a:t>CSV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DAF88BBA-6643-7546-9A07-EBA347623B57}"/>
              </a:ext>
            </a:extLst>
          </p:cNvPr>
          <p:cNvSpPr txBox="1"/>
          <p:nvPr/>
        </p:nvSpPr>
        <p:spPr>
          <a:xfrm>
            <a:off x="233421" y="6028687"/>
            <a:ext cx="70859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>
                <a:hlinkClick r:id="rId2"/>
              </a:rPr>
              <a:t>Comma-separated</a:t>
            </a:r>
            <a:r>
              <a:rPr lang="pt-BR" dirty="0">
                <a:hlinkClick r:id="rId2"/>
              </a:rPr>
              <a:t> </a:t>
            </a:r>
            <a:r>
              <a:rPr lang="pt-BR" dirty="0" err="1">
                <a:hlinkClick r:id="rId2"/>
              </a:rPr>
              <a:t>values</a:t>
            </a:r>
            <a:r>
              <a:rPr lang="pt-BR" dirty="0">
                <a:hlinkClick r:id="rId2"/>
              </a:rPr>
              <a:t> – Wikipédia, a enciclopédia livre (wikipedia.org)</a:t>
            </a:r>
            <a:endParaRPr lang="pt-BR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44E3513D-5B08-0AC7-14DA-E49B9D3738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380" y="1809524"/>
            <a:ext cx="6020640" cy="3238952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26811533-15E0-80F7-0A0C-DDA0C686586D}"/>
              </a:ext>
            </a:extLst>
          </p:cNvPr>
          <p:cNvSpPr txBox="1"/>
          <p:nvPr/>
        </p:nvSpPr>
        <p:spPr>
          <a:xfrm>
            <a:off x="233421" y="2505670"/>
            <a:ext cx="5375767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Formato não-binário: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Representa informações a partir valores separados</a:t>
            </a:r>
            <a:br>
              <a:rPr lang="pt-BR" dirty="0"/>
            </a:br>
            <a:r>
              <a:rPr lang="pt-BR" dirty="0"/>
              <a:t>por virgula;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Pode ter uma estrutura tabular;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Pode ter uma estrutura baseada em tamanhos fixos;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Relativamente efetivo para a análise;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Tamanho do arquivo pode ser um impeditivo.</a:t>
            </a:r>
          </a:p>
        </p:txBody>
      </p:sp>
    </p:spTree>
    <p:extLst>
      <p:ext uri="{BB962C8B-B14F-4D97-AF65-F5344CB8AC3E}">
        <p14:creationId xmlns:p14="http://schemas.microsoft.com/office/powerpoint/2010/main" val="36812460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Número de Slide 1">
            <a:extLst>
              <a:ext uri="{FF2B5EF4-FFF2-40B4-BE49-F238E27FC236}">
                <a16:creationId xmlns:a16="http://schemas.microsoft.com/office/drawing/2014/main" id="{30BD66D1-29D7-51E2-2BAC-9D326CD67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78F8EF-AD73-49BA-8349-CA3A518C48B4}" type="slidenum">
              <a:rPr lang="pt-PT" smtClean="0"/>
              <a:pPr/>
              <a:t>9</a:t>
            </a:fld>
            <a:endParaRPr lang="pt-PT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876B6E0-9526-82A9-77B8-5580055F93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33421" y="16932"/>
            <a:ext cx="6119754" cy="615366"/>
          </a:xfrm>
        </p:spPr>
        <p:txBody>
          <a:bodyPr anchor="ctr"/>
          <a:lstStyle/>
          <a:p>
            <a:r>
              <a:rPr lang="pt-BR" sz="2400" dirty="0"/>
              <a:t>YAML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54354AD8-97BE-A013-8DAA-80EFB38F1A59}"/>
              </a:ext>
            </a:extLst>
          </p:cNvPr>
          <p:cNvSpPr txBox="1"/>
          <p:nvPr/>
        </p:nvSpPr>
        <p:spPr>
          <a:xfrm>
            <a:off x="233421" y="6028687"/>
            <a:ext cx="5236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hlinkClick r:id="rId2"/>
              </a:rPr>
              <a:t>YAML – Wikipédia, a enciclopédia livre (wikipedia.org)</a:t>
            </a:r>
            <a:endParaRPr lang="pt-BR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D1ADD3AB-A625-22F1-97BD-5EADB3A9EE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2553" y="1833340"/>
            <a:ext cx="4096322" cy="3191320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F9C0C0DB-1305-3FCD-878C-3DD2577768E6}"/>
              </a:ext>
            </a:extLst>
          </p:cNvPr>
          <p:cNvSpPr txBox="1"/>
          <p:nvPr/>
        </p:nvSpPr>
        <p:spPr>
          <a:xfrm>
            <a:off x="233421" y="2505670"/>
            <a:ext cx="583127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Formato não-binário: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Representa informações a partir valores indentados;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Frequentemente utilizado para arquivos de configuração.</a:t>
            </a:r>
          </a:p>
        </p:txBody>
      </p:sp>
    </p:spTree>
    <p:extLst>
      <p:ext uri="{BB962C8B-B14F-4D97-AF65-F5344CB8AC3E}">
        <p14:creationId xmlns:p14="http://schemas.microsoft.com/office/powerpoint/2010/main" val="32756686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Número de Slide 1">
            <a:extLst>
              <a:ext uri="{FF2B5EF4-FFF2-40B4-BE49-F238E27FC236}">
                <a16:creationId xmlns:a16="http://schemas.microsoft.com/office/drawing/2014/main" id="{30BD66D1-29D7-51E2-2BAC-9D326CD67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78F8EF-AD73-49BA-8349-CA3A518C48B4}" type="slidenum">
              <a:rPr lang="pt-PT" smtClean="0"/>
              <a:pPr/>
              <a:t>10</a:t>
            </a:fld>
            <a:endParaRPr lang="pt-PT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876B6E0-9526-82A9-77B8-5580055F93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33421" y="16932"/>
            <a:ext cx="6119754" cy="615366"/>
          </a:xfrm>
        </p:spPr>
        <p:txBody>
          <a:bodyPr anchor="ctr"/>
          <a:lstStyle/>
          <a:p>
            <a:r>
              <a:rPr lang="pt-BR" sz="2400" dirty="0"/>
              <a:t>Parquet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E433D9AA-C1E8-C5EA-6919-F8ED9BEC5A4F}"/>
              </a:ext>
            </a:extLst>
          </p:cNvPr>
          <p:cNvSpPr txBox="1"/>
          <p:nvPr/>
        </p:nvSpPr>
        <p:spPr>
          <a:xfrm>
            <a:off x="233421" y="6028687"/>
            <a:ext cx="2788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hlinkClick r:id="rId2"/>
              </a:rPr>
              <a:t>Apache Parquet - Wikipedia</a:t>
            </a:r>
            <a:endParaRPr lang="pt-BR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9D35B58-5C83-FCBD-8764-7EC2F0B66025}"/>
              </a:ext>
            </a:extLst>
          </p:cNvPr>
          <p:cNvSpPr txBox="1"/>
          <p:nvPr/>
        </p:nvSpPr>
        <p:spPr>
          <a:xfrm>
            <a:off x="233421" y="5659355"/>
            <a:ext cx="5268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hlinkClick r:id="rId3"/>
              </a:rPr>
              <a:t>apache/parquet-format: Apache Parquet (github.com)</a:t>
            </a: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1981E143-218A-13BE-F065-0277A16902AB}"/>
              </a:ext>
            </a:extLst>
          </p:cNvPr>
          <p:cNvSpPr txBox="1"/>
          <p:nvPr/>
        </p:nvSpPr>
        <p:spPr>
          <a:xfrm>
            <a:off x="233421" y="2268663"/>
            <a:ext cx="4200381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Arquivo binário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Otimizado para leitura;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Comum em ambientes Spark e </a:t>
            </a:r>
            <a:r>
              <a:rPr lang="pt-BR" dirty="0" err="1"/>
              <a:t>Hadoop</a:t>
            </a:r>
            <a:r>
              <a:rPr lang="pt-BR" dirty="0"/>
              <a:t>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Formato popular em soluções </a:t>
            </a:r>
            <a:r>
              <a:rPr lang="pt-BR" dirty="0" err="1"/>
              <a:t>BigData</a:t>
            </a:r>
            <a:r>
              <a:rPr lang="pt-BR" dirty="0"/>
              <a:t>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Compatível com formatos de tabela </a:t>
            </a:r>
            <a:br>
              <a:rPr lang="pt-BR" dirty="0"/>
            </a:br>
            <a:r>
              <a:rPr lang="pt-BR" dirty="0"/>
              <a:t>Iceberg, </a:t>
            </a:r>
            <a:r>
              <a:rPr lang="pt-BR" dirty="0" err="1"/>
              <a:t>Hudi</a:t>
            </a:r>
            <a:r>
              <a:rPr lang="pt-BR" dirty="0"/>
              <a:t> e Delta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102235A-41DA-E960-41F6-CD6A03BC7D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2236" y="1152525"/>
            <a:ext cx="5724525" cy="4552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37697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Número de Slide 1">
            <a:extLst>
              <a:ext uri="{FF2B5EF4-FFF2-40B4-BE49-F238E27FC236}">
                <a16:creationId xmlns:a16="http://schemas.microsoft.com/office/drawing/2014/main" id="{30BD66D1-29D7-51E2-2BAC-9D326CD67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78F8EF-AD73-49BA-8349-CA3A518C48B4}" type="slidenum">
              <a:rPr lang="pt-PT" smtClean="0"/>
              <a:pPr/>
              <a:t>11</a:t>
            </a:fld>
            <a:endParaRPr lang="pt-PT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876B6E0-9526-82A9-77B8-5580055F93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33421" y="16932"/>
            <a:ext cx="6119754" cy="615366"/>
          </a:xfrm>
        </p:spPr>
        <p:txBody>
          <a:bodyPr anchor="ctr"/>
          <a:lstStyle/>
          <a:p>
            <a:r>
              <a:rPr lang="pt-BR" sz="2400" dirty="0" err="1"/>
              <a:t>Avro</a:t>
            </a:r>
            <a:endParaRPr lang="pt-BR" sz="24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F5378E00-6269-B813-BD34-D11239FDFA11}"/>
              </a:ext>
            </a:extLst>
          </p:cNvPr>
          <p:cNvSpPr txBox="1"/>
          <p:nvPr/>
        </p:nvSpPr>
        <p:spPr>
          <a:xfrm>
            <a:off x="233421" y="6028687"/>
            <a:ext cx="24833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hlinkClick r:id="rId2"/>
              </a:rPr>
              <a:t>Apache </a:t>
            </a:r>
            <a:r>
              <a:rPr lang="pt-BR" dirty="0" err="1">
                <a:hlinkClick r:id="rId2"/>
              </a:rPr>
              <a:t>Avro</a:t>
            </a:r>
            <a:r>
              <a:rPr lang="pt-BR" dirty="0">
                <a:hlinkClick r:id="rId2"/>
              </a:rPr>
              <a:t> - Wikipedia</a:t>
            </a:r>
            <a:endParaRPr lang="pt-BR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1423AFA8-D288-57A5-AA96-8E2B945D4E3C}"/>
              </a:ext>
            </a:extLst>
          </p:cNvPr>
          <p:cNvSpPr txBox="1"/>
          <p:nvPr/>
        </p:nvSpPr>
        <p:spPr>
          <a:xfrm>
            <a:off x="233421" y="5659355"/>
            <a:ext cx="27758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>
                <a:hlinkClick r:id="rId3"/>
              </a:rPr>
              <a:t>Specification</a:t>
            </a:r>
            <a:r>
              <a:rPr lang="pt-BR" dirty="0">
                <a:hlinkClick r:id="rId3"/>
              </a:rPr>
              <a:t> | Apache </a:t>
            </a:r>
            <a:r>
              <a:rPr lang="pt-BR" dirty="0" err="1">
                <a:hlinkClick r:id="rId3"/>
              </a:rPr>
              <a:t>Avro</a:t>
            </a: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BFDDA92-0CC3-271D-1EF7-187C68A06016}"/>
              </a:ext>
            </a:extLst>
          </p:cNvPr>
          <p:cNvSpPr txBox="1"/>
          <p:nvPr/>
        </p:nvSpPr>
        <p:spPr>
          <a:xfrm>
            <a:off x="233421" y="2268663"/>
            <a:ext cx="420038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Arquivo binário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Otimizado para escrita;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Comum em ambientes Spark e </a:t>
            </a:r>
            <a:r>
              <a:rPr lang="pt-BR" dirty="0" err="1"/>
              <a:t>Hadoop</a:t>
            </a:r>
            <a:r>
              <a:rPr lang="pt-BR" dirty="0"/>
              <a:t>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Formato utilizado em soluções </a:t>
            </a:r>
            <a:r>
              <a:rPr lang="pt-BR" dirty="0" err="1"/>
              <a:t>BigData</a:t>
            </a:r>
            <a:r>
              <a:rPr lang="pt-BR" dirty="0"/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3537289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Número de Slide 1">
            <a:extLst>
              <a:ext uri="{FF2B5EF4-FFF2-40B4-BE49-F238E27FC236}">
                <a16:creationId xmlns:a16="http://schemas.microsoft.com/office/drawing/2014/main" id="{30BD66D1-29D7-51E2-2BAC-9D326CD67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78F8EF-AD73-49BA-8349-CA3A518C48B4}" type="slidenum">
              <a:rPr lang="pt-PT" smtClean="0"/>
              <a:pPr/>
              <a:t>12</a:t>
            </a:fld>
            <a:endParaRPr lang="pt-PT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876B6E0-9526-82A9-77B8-5580055F93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33421" y="16932"/>
            <a:ext cx="6119754" cy="615366"/>
          </a:xfrm>
        </p:spPr>
        <p:txBody>
          <a:bodyPr anchor="ctr"/>
          <a:lstStyle/>
          <a:p>
            <a:r>
              <a:rPr lang="pt-BR" sz="2400" dirty="0" err="1"/>
              <a:t>Feather</a:t>
            </a:r>
            <a:endParaRPr lang="pt-BR" sz="24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CCBA3D81-93B7-0745-B31E-459919B4E3C3}"/>
              </a:ext>
            </a:extLst>
          </p:cNvPr>
          <p:cNvSpPr txBox="1"/>
          <p:nvPr/>
        </p:nvSpPr>
        <p:spPr>
          <a:xfrm>
            <a:off x="233421" y="6028687"/>
            <a:ext cx="43963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Feather File Format — Apache Arrow v15.0.2</a:t>
            </a:r>
            <a:endParaRPr lang="pt-BR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A1DE4A5-B8B1-BDB0-766C-1C47201C3E5B}"/>
              </a:ext>
            </a:extLst>
          </p:cNvPr>
          <p:cNvSpPr txBox="1"/>
          <p:nvPr/>
        </p:nvSpPr>
        <p:spPr>
          <a:xfrm>
            <a:off x="233421" y="2268663"/>
            <a:ext cx="759400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Arquivo binário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Pensado para ser uma solução agnóstica de armazenamento de </a:t>
            </a:r>
            <a:r>
              <a:rPr lang="pt-BR" dirty="0" err="1"/>
              <a:t>DataFrames</a:t>
            </a:r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Pensado para aprimorar a comunicação R e Python;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Não é muito popular e não possui documentação extensiva;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Baseado na implementação IPC do Apache Arrow.</a:t>
            </a:r>
          </a:p>
        </p:txBody>
      </p:sp>
    </p:spTree>
    <p:extLst>
      <p:ext uri="{BB962C8B-B14F-4D97-AF65-F5344CB8AC3E}">
        <p14:creationId xmlns:p14="http://schemas.microsoft.com/office/powerpoint/2010/main" val="14797793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6371551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ersonalizada 2">
      <a:majorFont>
        <a:latin typeface="Raleway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ersonalizar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aa66e33-fa01-4ae6-8609-ebb9fdb5c96b">
      <Terms xmlns="http://schemas.microsoft.com/office/infopath/2007/PartnerControls"/>
    </lcf76f155ced4ddcb4097134ff3c332f>
    <TaxCatchAll xmlns="3ddadd9a-1469-4088-bffb-741804bca10e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CA5F0E94F0AF5840B88100ECA062DAA4" ma:contentTypeVersion="17" ma:contentTypeDescription="Crie um novo documento." ma:contentTypeScope="" ma:versionID="356ad33b58a086a63ca2ce1ed9f845b8">
  <xsd:schema xmlns:xsd="http://www.w3.org/2001/XMLSchema" xmlns:xs="http://www.w3.org/2001/XMLSchema" xmlns:p="http://schemas.microsoft.com/office/2006/metadata/properties" xmlns:ns2="aaa66e33-fa01-4ae6-8609-ebb9fdb5c96b" xmlns:ns3="3ddadd9a-1469-4088-bffb-741804bca10e" targetNamespace="http://schemas.microsoft.com/office/2006/metadata/properties" ma:root="true" ma:fieldsID="d6ceb61b77e65144e0bc34b075175e64" ns2:_="" ns3:_="">
    <xsd:import namespace="aaa66e33-fa01-4ae6-8609-ebb9fdb5c96b"/>
    <xsd:import namespace="3ddadd9a-1469-4088-bffb-741804bca10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LengthInSeconds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2:MediaServiceOCR" minOccurs="0"/>
                <xsd:element ref="ns2:MediaServiceLocation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aa66e33-fa01-4ae6-8609-ebb9fdb5c96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6" nillable="true" ma:taxonomy="true" ma:internalName="lcf76f155ced4ddcb4097134ff3c332f" ma:taxonomyFieldName="MediaServiceImageTags" ma:displayName="Marcações de imagem" ma:readOnly="false" ma:fieldId="{5cf76f15-5ced-4ddc-b409-7134ff3c332f}" ma:taxonomyMulti="true" ma:sspId="01739230-c919-42e8-be66-3d2534b6b39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ddadd9a-1469-4088-bffb-741804bca10e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3a01301c-3cf1-44ac-849a-39fc12585df0}" ma:internalName="TaxCatchAll" ma:showField="CatchAllData" ma:web="3ddadd9a-1469-4088-bffb-741804bca10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9B446A2-A829-4306-AC94-DAF82F2AD6D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D59D27F-DE0C-4EE5-BEE4-FDD10F708E02}">
  <ds:schemaRefs>
    <ds:schemaRef ds:uri="http://schemas.microsoft.com/office/2006/metadata/properties"/>
    <ds:schemaRef ds:uri="http://schemas.microsoft.com/office/infopath/2007/PartnerControls"/>
    <ds:schemaRef ds:uri="aaa66e33-fa01-4ae6-8609-ebb9fdb5c96b"/>
    <ds:schemaRef ds:uri="3ddadd9a-1469-4088-bffb-741804bca10e"/>
  </ds:schemaRefs>
</ds:datastoreItem>
</file>

<file path=customXml/itemProps3.xml><?xml version="1.0" encoding="utf-8"?>
<ds:datastoreItem xmlns:ds="http://schemas.openxmlformats.org/officeDocument/2006/customXml" ds:itemID="{F7339EBE-074B-4B43-9321-638288F0CF3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aa66e33-fa01-4ae6-8609-ebb9fdb5c96b"/>
    <ds:schemaRef ds:uri="3ddadd9a-1469-4088-bffb-741804bca10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2282</TotalTime>
  <Words>543</Words>
  <Application>Microsoft Office PowerPoint</Application>
  <PresentationFormat>Widescreen</PresentationFormat>
  <Paragraphs>118</Paragraphs>
  <Slides>13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13</vt:i4>
      </vt:variant>
    </vt:vector>
  </HeadingPairs>
  <TitlesOfParts>
    <vt:vector size="22" baseType="lpstr">
      <vt:lpstr>Courier New</vt:lpstr>
      <vt:lpstr>DiN</vt:lpstr>
      <vt:lpstr>Calibri</vt:lpstr>
      <vt:lpstr>Arial</vt:lpstr>
      <vt:lpstr>Gobold</vt:lpstr>
      <vt:lpstr>Raleway</vt:lpstr>
      <vt:lpstr>Calibri Light</vt:lpstr>
      <vt:lpstr>Tema do Office</vt:lpstr>
      <vt:lpstr>Personalizar design</vt:lpstr>
      <vt:lpstr>Introdução a linguagem R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Felipe Marangoni</dc:creator>
  <cp:keywords>StepWise</cp:keywords>
  <cp:lastModifiedBy>Renato Fileto</cp:lastModifiedBy>
  <cp:revision>46</cp:revision>
  <dcterms:created xsi:type="dcterms:W3CDTF">2022-07-12T19:42:48Z</dcterms:created>
  <dcterms:modified xsi:type="dcterms:W3CDTF">2024-04-15T15:04:55Z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0x010100CA5F0E94F0AF5840B88100ECA062DAA4</vt:lpwstr>
  </property>
</Properties>
</file>