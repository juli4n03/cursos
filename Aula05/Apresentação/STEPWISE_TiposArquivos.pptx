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  <p:sldMasterId id="2147483660" r:id="rId5"/>
  </p:sldMasterIdLst>
  <p:notesMasterIdLst>
    <p:notesMasterId r:id="rId21"/>
  </p:notesMasterIdLst>
  <p:sldIdLst>
    <p:sldId id="268" r:id="rId6"/>
    <p:sldId id="270" r:id="rId7"/>
    <p:sldId id="271" r:id="rId8"/>
    <p:sldId id="341" r:id="rId9"/>
    <p:sldId id="343" r:id="rId10"/>
    <p:sldId id="344" r:id="rId11"/>
    <p:sldId id="345" r:id="rId12"/>
    <p:sldId id="346" r:id="rId13"/>
    <p:sldId id="348" r:id="rId14"/>
    <p:sldId id="349" r:id="rId15"/>
    <p:sldId id="350" r:id="rId16"/>
    <p:sldId id="351" r:id="rId17"/>
    <p:sldId id="352" r:id="rId18"/>
    <p:sldId id="353" r:id="rId19"/>
    <p:sldId id="272" r:id="rId20"/>
  </p:sldIdLst>
  <p:sldSz cx="12192000" cy="6858000"/>
  <p:notesSz cx="6858000" cy="9144000"/>
  <p:embeddedFontLst>
    <p:embeddedFont>
      <p:font typeface="DiN" panose="020B0604020202020204"/>
      <p:regular r:id="rId22"/>
    </p:embeddedFont>
    <p:embeddedFont>
      <p:font typeface="Gobold" panose="020B0604020202020204" charset="0"/>
      <p:regular r:id="rId23"/>
      <p:italic r:id="rId24"/>
    </p:embeddedFont>
    <p:embeddedFont>
      <p:font typeface="Raleway" pitchFamily="2" charset="0"/>
      <p:regular r:id="rId25"/>
      <p:bold r:id="rId26"/>
      <p:italic r:id="rId27"/>
      <p:boldItalic r:id="rId28"/>
    </p:embeddedFont>
  </p:embeddedFont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CEDA"/>
    <a:srgbClr val="ED146B"/>
    <a:srgbClr val="04ECAB"/>
    <a:srgbClr val="323E56"/>
    <a:srgbClr val="EDEFF0"/>
    <a:srgbClr val="4356A5"/>
    <a:srgbClr val="03EDAD"/>
    <a:srgbClr val="374567"/>
    <a:srgbClr val="E3E3E3"/>
    <a:srgbClr val="2C2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Estilo com Tema 2 - Ênfas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69" d="100"/>
          <a:sy n="69" d="100"/>
        </p:scale>
        <p:origin x="7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37D81-BE31-43A4-8A88-27D890376FEC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8060B-D40B-4B05-8E97-B27BA3486E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8393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F019FB7B-112D-5EE1-7FA1-4D0C8EE083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25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403C58E-C6ED-EFB7-AE68-E86118A215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36475" y="857540"/>
            <a:ext cx="4439261" cy="454025"/>
          </a:xfrm>
        </p:spPr>
        <p:txBody>
          <a:bodyPr anchor="t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Gobold" panose="02000500000000000000"/>
              </a:defRPr>
            </a:lvl1pPr>
          </a:lstStyle>
          <a:p>
            <a:r>
              <a:rPr lang="pt-BR" dirty="0"/>
              <a:t>TÍTULO DO PROJETO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6B532C-0613-1CD4-6F25-60231241A2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36475" y="1273418"/>
            <a:ext cx="4438800" cy="661310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Raleway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Subtítulo</a:t>
            </a:r>
            <a:endParaRPr lang="pt-PT" dirty="0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475E707F-A7DB-B7DC-3118-99DCA99687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36475" y="2198915"/>
            <a:ext cx="2955059" cy="365125"/>
          </a:xfrm>
        </p:spPr>
        <p:txBody>
          <a:bodyPr anchor="b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Raleway" pitchFamily="2" charset="0"/>
              </a:defRPr>
            </a:lvl1pPr>
            <a:lvl2pPr>
              <a:defRPr>
                <a:latin typeface="Gobold" panose="02000500000000000000"/>
              </a:defRPr>
            </a:lvl2pPr>
            <a:lvl3pPr>
              <a:defRPr>
                <a:latin typeface="Gobold" panose="02000500000000000000"/>
              </a:defRPr>
            </a:lvl3pPr>
            <a:lvl4pPr>
              <a:defRPr>
                <a:latin typeface="Gobold" panose="02000500000000000000"/>
              </a:defRPr>
            </a:lvl4pPr>
            <a:lvl5pPr>
              <a:defRPr>
                <a:latin typeface="Gobold" panose="02000500000000000000"/>
              </a:defRPr>
            </a:lvl5pPr>
          </a:lstStyle>
          <a:p>
            <a:pPr lvl="0"/>
            <a:r>
              <a:rPr lang="pt-BR" dirty="0"/>
              <a:t>Ref.: </a:t>
            </a:r>
            <a:r>
              <a:rPr lang="pt-BR" dirty="0" err="1"/>
              <a:t>dd.mm.aa</a:t>
            </a:r>
            <a:endParaRPr lang="pt-BR" dirty="0"/>
          </a:p>
        </p:txBody>
      </p:sp>
      <p:sp>
        <p:nvSpPr>
          <p:cNvPr id="16" name="Espaço Reservado para Texto 14">
            <a:extLst>
              <a:ext uri="{FF2B5EF4-FFF2-40B4-BE49-F238E27FC236}">
                <a16:creationId xmlns:a16="http://schemas.microsoft.com/office/drawing/2014/main" id="{50EF54F0-C1D2-37A3-1CB2-BB4C4D6833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474" y="2774910"/>
            <a:ext cx="2955059" cy="36512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374567"/>
                </a:solidFill>
                <a:latin typeface="Raleway" pitchFamily="2" charset="0"/>
              </a:defRPr>
            </a:lvl1pPr>
            <a:lvl2pPr>
              <a:defRPr>
                <a:latin typeface="Gobold" panose="02000500000000000000"/>
              </a:defRPr>
            </a:lvl2pPr>
            <a:lvl3pPr>
              <a:defRPr>
                <a:latin typeface="Gobold" panose="02000500000000000000"/>
              </a:defRPr>
            </a:lvl3pPr>
            <a:lvl4pPr>
              <a:defRPr>
                <a:latin typeface="Gobold" panose="02000500000000000000"/>
              </a:defRPr>
            </a:lvl4pPr>
            <a:lvl5pPr>
              <a:defRPr>
                <a:latin typeface="Gobold" panose="02000500000000000000"/>
              </a:defRPr>
            </a:lvl5pPr>
          </a:lstStyle>
          <a:p>
            <a:pPr lvl="0"/>
            <a:r>
              <a:rPr lang="pt-BR" dirty="0"/>
              <a:t>&lt; Informações Adicionais &gt;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12BBA61F-EAF0-F28B-9B61-38F65A256A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78262" y="4945255"/>
            <a:ext cx="2112241" cy="532039"/>
          </a:xfrm>
          <a:solidFill>
            <a:srgbClr val="E3E3E3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rgbClr val="FF0000"/>
                </a:solidFill>
                <a:latin typeface="Gobold" panose="02000500000000000000"/>
              </a:defRPr>
            </a:lvl1pPr>
            <a:lvl2pPr>
              <a:defRPr>
                <a:latin typeface="Gobold" panose="02000500000000000000"/>
              </a:defRPr>
            </a:lvl2pPr>
            <a:lvl3pPr>
              <a:defRPr>
                <a:latin typeface="Gobold" panose="02000500000000000000"/>
              </a:defRPr>
            </a:lvl3pPr>
            <a:lvl4pPr>
              <a:defRPr>
                <a:latin typeface="Gobold" panose="02000500000000000000"/>
              </a:defRPr>
            </a:lvl4pPr>
            <a:lvl5pPr>
              <a:defRPr>
                <a:latin typeface="Gobold" panose="02000500000000000000"/>
              </a:defRPr>
            </a:lvl5pPr>
          </a:lstStyle>
          <a:p>
            <a:pPr lvl="0"/>
            <a:r>
              <a:rPr lang="pt-BR" dirty="0"/>
              <a:t>LOGO DO CLIENTE</a:t>
            </a:r>
          </a:p>
        </p:txBody>
      </p:sp>
      <p:pic>
        <p:nvPicPr>
          <p:cNvPr id="6" name="Imagem 5" descr="Logotipo&#10;&#10;Descrição gerada automaticamente">
            <a:extLst>
              <a:ext uri="{FF2B5EF4-FFF2-40B4-BE49-F238E27FC236}">
                <a16:creationId xmlns:a16="http://schemas.microsoft.com/office/drawing/2014/main" id="{E735EF65-F98A-59EC-04D3-54129B8A31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2" r="17166" b="25746"/>
          <a:stretch/>
        </p:blipFill>
        <p:spPr>
          <a:xfrm>
            <a:off x="9354821" y="5210777"/>
            <a:ext cx="2475230" cy="134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14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908E218-EF83-242C-42BB-3E3D70402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25"/>
            <a:ext cx="12192000" cy="6858000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4F70C12F-3874-A08F-81D1-AC2179C47D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36475" y="2894156"/>
            <a:ext cx="4439261" cy="454025"/>
          </a:xfrm>
        </p:spPr>
        <p:txBody>
          <a:bodyPr anchor="t">
            <a:noAutofit/>
          </a:bodyPr>
          <a:lstStyle>
            <a:lvl1pPr algn="l">
              <a:defRPr sz="2800" b="1">
                <a:solidFill>
                  <a:srgbClr val="374567"/>
                </a:solidFill>
                <a:latin typeface="Gobold" panose="02000500000000000000"/>
              </a:defRPr>
            </a:lvl1pPr>
          </a:lstStyle>
          <a:p>
            <a:r>
              <a:rPr lang="pt-BR" dirty="0"/>
              <a:t>TÍTULO DO PROJETO</a:t>
            </a:r>
            <a:endParaRPr lang="pt-PT" dirty="0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5EF5A610-1A1D-AD9B-D7BD-844BE2F2F3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36475" y="3302243"/>
            <a:ext cx="4438800" cy="661310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rgbClr val="374567"/>
                </a:solidFill>
                <a:latin typeface="Raleway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Subtítulo</a:t>
            </a:r>
            <a:endParaRPr lang="pt-PT" dirty="0"/>
          </a:p>
        </p:txBody>
      </p:sp>
      <p:sp>
        <p:nvSpPr>
          <p:cNvPr id="16" name="Espaço Reservado para Texto 14">
            <a:extLst>
              <a:ext uri="{FF2B5EF4-FFF2-40B4-BE49-F238E27FC236}">
                <a16:creationId xmlns:a16="http://schemas.microsoft.com/office/drawing/2014/main" id="{FDF8B5AC-DF8F-5F0F-2C5B-3D087644FC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36475" y="2198915"/>
            <a:ext cx="2955059" cy="365125"/>
          </a:xfrm>
        </p:spPr>
        <p:txBody>
          <a:bodyPr anchor="b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Raleway" pitchFamily="2" charset="0"/>
              </a:defRPr>
            </a:lvl1pPr>
            <a:lvl2pPr>
              <a:defRPr>
                <a:latin typeface="Gobold" panose="02000500000000000000"/>
              </a:defRPr>
            </a:lvl2pPr>
            <a:lvl3pPr>
              <a:defRPr>
                <a:latin typeface="Gobold" panose="02000500000000000000"/>
              </a:defRPr>
            </a:lvl3pPr>
            <a:lvl4pPr>
              <a:defRPr>
                <a:latin typeface="Gobold" panose="02000500000000000000"/>
              </a:defRPr>
            </a:lvl4pPr>
            <a:lvl5pPr>
              <a:defRPr>
                <a:latin typeface="Gobold" panose="02000500000000000000"/>
              </a:defRPr>
            </a:lvl5pPr>
          </a:lstStyle>
          <a:p>
            <a:pPr lvl="0"/>
            <a:r>
              <a:rPr lang="pt-BR" dirty="0"/>
              <a:t>Ref.: </a:t>
            </a:r>
            <a:r>
              <a:rPr lang="pt-BR" dirty="0" err="1"/>
              <a:t>dd.mm.aa</a:t>
            </a:r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A6C653D-43B4-D6AD-9C0C-7227986D4633}"/>
              </a:ext>
            </a:extLst>
          </p:cNvPr>
          <p:cNvSpPr txBox="1"/>
          <p:nvPr userDrawn="1"/>
        </p:nvSpPr>
        <p:spPr>
          <a:xfrm>
            <a:off x="7636475" y="825382"/>
            <a:ext cx="39789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latin typeface="Raleway" pitchFamily="2" charset="0"/>
              </a:rPr>
              <a:t>A </a:t>
            </a:r>
            <a:r>
              <a:rPr lang="pt-BR" sz="1600" b="0" dirty="0">
                <a:solidFill>
                  <a:srgbClr val="04ECAB"/>
                </a:solidFill>
                <a:latin typeface="Raleway" pitchFamily="2" charset="0"/>
              </a:rPr>
              <a:t>StepWise</a:t>
            </a:r>
            <a:r>
              <a:rPr lang="pt-BR" sz="1600" dirty="0">
                <a:solidFill>
                  <a:schemeClr val="bg1"/>
                </a:solidFill>
                <a:latin typeface="Raleway" pitchFamily="2" charset="0"/>
              </a:rPr>
              <a:t> vem se consolidando como</a:t>
            </a:r>
          </a:p>
          <a:p>
            <a:r>
              <a:rPr lang="pt-BR" sz="1600" dirty="0">
                <a:solidFill>
                  <a:schemeClr val="bg1"/>
                </a:solidFill>
                <a:latin typeface="Raleway" pitchFamily="2" charset="0"/>
              </a:rPr>
              <a:t>instituição de alta eficiência técnica e</a:t>
            </a:r>
          </a:p>
          <a:p>
            <a:r>
              <a:rPr lang="pt-BR" sz="1600" dirty="0">
                <a:solidFill>
                  <a:schemeClr val="bg1"/>
                </a:solidFill>
                <a:latin typeface="Raleway" pitchFamily="2" charset="0"/>
              </a:rPr>
              <a:t>estratégica no segmento de consultoria</a:t>
            </a:r>
          </a:p>
          <a:p>
            <a:r>
              <a:rPr lang="pt-BR" sz="1600" dirty="0">
                <a:solidFill>
                  <a:schemeClr val="bg1"/>
                </a:solidFill>
                <a:latin typeface="Raleway" pitchFamily="2" charset="0"/>
              </a:rPr>
              <a:t>em inteligência estatística.</a:t>
            </a:r>
          </a:p>
        </p:txBody>
      </p:sp>
      <p:sp>
        <p:nvSpPr>
          <p:cNvPr id="2" name="Espaço Reservado para Texto 14">
            <a:extLst>
              <a:ext uri="{FF2B5EF4-FFF2-40B4-BE49-F238E27FC236}">
                <a16:creationId xmlns:a16="http://schemas.microsoft.com/office/drawing/2014/main" id="{49F84A20-8D0C-6166-2575-2F5D760E99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78262" y="4945255"/>
            <a:ext cx="2112241" cy="532039"/>
          </a:xfrm>
          <a:solidFill>
            <a:srgbClr val="E3E3E3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rgbClr val="FF0000"/>
                </a:solidFill>
                <a:latin typeface="Gobold" panose="02000500000000000000"/>
              </a:defRPr>
            </a:lvl1pPr>
            <a:lvl2pPr>
              <a:defRPr>
                <a:latin typeface="Gobold" panose="02000500000000000000"/>
              </a:defRPr>
            </a:lvl2pPr>
            <a:lvl3pPr>
              <a:defRPr>
                <a:latin typeface="Gobold" panose="02000500000000000000"/>
              </a:defRPr>
            </a:lvl3pPr>
            <a:lvl4pPr>
              <a:defRPr>
                <a:latin typeface="Gobold" panose="02000500000000000000"/>
              </a:defRPr>
            </a:lvl4pPr>
            <a:lvl5pPr>
              <a:defRPr>
                <a:latin typeface="Gobold" panose="02000500000000000000"/>
              </a:defRPr>
            </a:lvl5pPr>
          </a:lstStyle>
          <a:p>
            <a:pPr lvl="0"/>
            <a:r>
              <a:rPr lang="pt-BR" dirty="0"/>
              <a:t>LOGO DO CLIENTE</a:t>
            </a:r>
          </a:p>
        </p:txBody>
      </p:sp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82157E4D-B904-830D-3FC8-B78FC1AD4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2" r="16470" b="25746"/>
          <a:stretch/>
        </p:blipFill>
        <p:spPr>
          <a:xfrm>
            <a:off x="9354820" y="5210777"/>
            <a:ext cx="2503805" cy="134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0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C219938B-D0F8-BFED-D761-90D1263607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309300F-C86C-1AF5-41DD-F484643BDFDF}"/>
              </a:ext>
            </a:extLst>
          </p:cNvPr>
          <p:cNvSpPr txBox="1"/>
          <p:nvPr userDrawn="1"/>
        </p:nvSpPr>
        <p:spPr>
          <a:xfrm rot="17885796">
            <a:off x="2085790" y="4543011"/>
            <a:ext cx="3631828" cy="940085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r>
              <a:rPr lang="en-US" sz="1600" dirty="0">
                <a:latin typeface="+mj-lt"/>
              </a:rPr>
              <a:t>Fly  higher</a:t>
            </a:r>
            <a:endParaRPr lang="pt-BR" sz="1600" dirty="0">
              <a:latin typeface="+mj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F947CC-D1CD-BB5B-3498-353595BCD068}"/>
              </a:ext>
            </a:extLst>
          </p:cNvPr>
          <p:cNvSpPr txBox="1"/>
          <p:nvPr userDrawn="1"/>
        </p:nvSpPr>
        <p:spPr>
          <a:xfrm rot="14769288">
            <a:off x="483994" y="3378072"/>
            <a:ext cx="3631828" cy="1047030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r>
              <a:rPr lang="en-US" sz="1600" dirty="0">
                <a:latin typeface="+mj-lt"/>
                <a:cs typeface="Gisha" panose="020B0604020202020204" pitchFamily="34" charset="-79"/>
              </a:rPr>
              <a:t> with  statistical</a:t>
            </a:r>
            <a:endParaRPr lang="pt-BR" sz="1600" dirty="0">
              <a:latin typeface="+mj-lt"/>
              <a:cs typeface="Gisha" panose="020B0604020202020204" pitchFamily="34" charset="-79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1691CE2-EA46-EE62-9E2E-82E5084CC387}"/>
              </a:ext>
            </a:extLst>
          </p:cNvPr>
          <p:cNvSpPr txBox="1"/>
          <p:nvPr userDrawn="1"/>
        </p:nvSpPr>
        <p:spPr>
          <a:xfrm rot="18883247">
            <a:off x="2477561" y="2366546"/>
            <a:ext cx="3631828" cy="940085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1116515"/>
              </a:avLst>
            </a:prstTxWarp>
            <a:spAutoFit/>
          </a:bodyPr>
          <a:lstStyle/>
          <a:p>
            <a:r>
              <a:rPr lang="en-US" sz="1600" dirty="0">
                <a:latin typeface="+mj-lt"/>
              </a:rPr>
              <a:t>Intelligence</a:t>
            </a:r>
            <a:endParaRPr lang="pt-BR" sz="1600" dirty="0">
              <a:latin typeface="+mj-lt"/>
            </a:endParaRP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AC082F9-4399-3321-0EB5-9D5188A6D212}"/>
              </a:ext>
            </a:extLst>
          </p:cNvPr>
          <p:cNvCxnSpPr>
            <a:cxnSpLocks/>
          </p:cNvCxnSpPr>
          <p:nvPr userDrawn="1"/>
        </p:nvCxnSpPr>
        <p:spPr>
          <a:xfrm flipH="1">
            <a:off x="4343400" y="6106886"/>
            <a:ext cx="2664000" cy="0"/>
          </a:xfrm>
          <a:prstGeom prst="line">
            <a:avLst/>
          </a:prstGeom>
          <a:ln>
            <a:solidFill>
              <a:srgbClr val="3745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ço Reservado para Texto 14">
            <a:extLst>
              <a:ext uri="{FF2B5EF4-FFF2-40B4-BE49-F238E27FC236}">
                <a16:creationId xmlns:a16="http://schemas.microsoft.com/office/drawing/2014/main" id="{3869192D-CA12-CDCC-2317-DF2A831EB9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36535" y="5838457"/>
            <a:ext cx="2112241" cy="532039"/>
          </a:xfrm>
          <a:solidFill>
            <a:srgbClr val="E3E3E3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rgbClr val="FF0000"/>
                </a:solidFill>
                <a:latin typeface="Gobold" panose="02000500000000000000"/>
              </a:defRPr>
            </a:lvl1pPr>
            <a:lvl2pPr>
              <a:defRPr>
                <a:latin typeface="Gobold" panose="02000500000000000000"/>
              </a:defRPr>
            </a:lvl2pPr>
            <a:lvl3pPr>
              <a:defRPr>
                <a:latin typeface="Gobold" panose="02000500000000000000"/>
              </a:defRPr>
            </a:lvl3pPr>
            <a:lvl4pPr>
              <a:defRPr>
                <a:latin typeface="Gobold" panose="02000500000000000000"/>
              </a:defRPr>
            </a:lvl4pPr>
            <a:lvl5pPr>
              <a:defRPr>
                <a:latin typeface="Gobold" panose="02000500000000000000"/>
              </a:defRPr>
            </a:lvl5pPr>
          </a:lstStyle>
          <a:p>
            <a:pPr lvl="0"/>
            <a:r>
              <a:rPr lang="pt-BR" dirty="0"/>
              <a:t>LOGO DO CLIENTE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18C1BFD8-985F-29E1-C38A-DD0479A036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8942" y="1470532"/>
            <a:ext cx="3577522" cy="641628"/>
          </a:xfrm>
        </p:spPr>
        <p:txBody>
          <a:bodyPr anchor="t">
            <a:noAutofit/>
          </a:bodyPr>
          <a:lstStyle>
            <a:lvl1pPr algn="l">
              <a:defRPr sz="4800" b="1">
                <a:solidFill>
                  <a:srgbClr val="374567"/>
                </a:solidFill>
                <a:latin typeface="Gobold" panose="02000500000000000000"/>
              </a:defRPr>
            </a:lvl1pPr>
          </a:lstStyle>
          <a:p>
            <a:r>
              <a:rPr lang="pt-BR" dirty="0"/>
              <a:t>SUMÁRIO</a:t>
            </a:r>
            <a:endParaRPr lang="pt-PT" dirty="0"/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0E7DFA32-FA47-6E3F-8424-0B9C95A3B1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88942" y="2248617"/>
            <a:ext cx="3577521" cy="2037631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None/>
              <a:defRPr lang="pt-BR" sz="2000" b="0" kern="1200" dirty="0">
                <a:solidFill>
                  <a:srgbClr val="374567"/>
                </a:solidFill>
                <a:latin typeface="Raleway" pitchFamily="2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dirty="0"/>
              <a:t>01. Texto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dirty="0"/>
              <a:t>02. Texto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dirty="0"/>
              <a:t>03. Texto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dirty="0"/>
              <a:t>04. Texto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dirty="0"/>
              <a:t>05. Texto</a:t>
            </a:r>
          </a:p>
        </p:txBody>
      </p:sp>
      <p:sp>
        <p:nvSpPr>
          <p:cNvPr id="28" name="Espaço Reservado para Texto 27">
            <a:extLst>
              <a:ext uri="{FF2B5EF4-FFF2-40B4-BE49-F238E27FC236}">
                <a16:creationId xmlns:a16="http://schemas.microsoft.com/office/drawing/2014/main" id="{3F34D33B-73B6-A399-E295-F08F259E1C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96427" y="2248616"/>
            <a:ext cx="3577521" cy="2037623"/>
          </a:xfrm>
        </p:spPr>
        <p:txBody>
          <a:bodyPr>
            <a:noAutofit/>
          </a:bodyPr>
          <a:lstStyle>
            <a:lvl1pPr marL="0" indent="0">
              <a:buNone/>
              <a:defRPr lang="pt-BR" sz="2000" b="0" kern="1200" dirty="0">
                <a:solidFill>
                  <a:srgbClr val="374567"/>
                </a:solidFill>
                <a:latin typeface="Raleway" pitchFamily="2" charset="0"/>
                <a:ea typeface="+mj-ea"/>
                <a:cs typeface="+mj-cs"/>
              </a:defRPr>
            </a:lvl1pPr>
            <a:lvl5pPr>
              <a:defRPr/>
            </a:lvl5pPr>
          </a:lstStyle>
          <a:p>
            <a:pPr lvl="0"/>
            <a:r>
              <a:rPr lang="pt-BR" dirty="0"/>
              <a:t>06. Texto</a:t>
            </a:r>
          </a:p>
          <a:p>
            <a:pPr lvl="0"/>
            <a:r>
              <a:rPr lang="pt-BR" dirty="0"/>
              <a:t>07. Texto</a:t>
            </a:r>
          </a:p>
          <a:p>
            <a:pPr lvl="0"/>
            <a:r>
              <a:rPr lang="pt-BR" dirty="0"/>
              <a:t>08. Texto</a:t>
            </a:r>
          </a:p>
          <a:p>
            <a:pPr lvl="0"/>
            <a:r>
              <a:rPr lang="pt-BR" dirty="0"/>
              <a:t>09. Texto</a:t>
            </a:r>
          </a:p>
          <a:p>
            <a:pPr lvl="0"/>
            <a:r>
              <a:rPr lang="pt-BR" dirty="0"/>
              <a:t>10. Texto</a:t>
            </a:r>
          </a:p>
          <a:p>
            <a:pPr lvl="0"/>
            <a:endParaRPr lang="pt-BR" dirty="0"/>
          </a:p>
        </p:txBody>
      </p:sp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A780AB00-DC9C-0FDF-9871-043BC60239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2" r="16470" b="25746"/>
          <a:stretch/>
        </p:blipFill>
        <p:spPr>
          <a:xfrm>
            <a:off x="9354820" y="5210777"/>
            <a:ext cx="2503805" cy="134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45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Imagem digital fictícia de personagem de desenho animado&#10;&#10;Descrição gerada automaticamente com confiança baixa">
            <a:extLst>
              <a:ext uri="{FF2B5EF4-FFF2-40B4-BE49-F238E27FC236}">
                <a16:creationId xmlns:a16="http://schemas.microsoft.com/office/drawing/2014/main" id="{3E5F0395-0870-A41C-4187-3EFB1CB9C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74E46556-2A86-A9C7-75A5-4AC9164AEA0B}"/>
              </a:ext>
            </a:extLst>
          </p:cNvPr>
          <p:cNvCxnSpPr/>
          <p:nvPr userDrawn="1"/>
        </p:nvCxnSpPr>
        <p:spPr>
          <a:xfrm>
            <a:off x="9853127" y="4627984"/>
            <a:ext cx="1987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E18870F2-9E70-3E0A-1ADD-008A126BE8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53128" y="3962533"/>
            <a:ext cx="1987420" cy="532039"/>
          </a:xfrm>
          <a:solidFill>
            <a:srgbClr val="FFFF00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rgbClr val="FF0000"/>
                </a:solidFill>
                <a:latin typeface="Gobold" panose="02000500000000000000"/>
              </a:defRPr>
            </a:lvl1pPr>
            <a:lvl2pPr>
              <a:defRPr>
                <a:latin typeface="Gobold" panose="02000500000000000000"/>
              </a:defRPr>
            </a:lvl2pPr>
            <a:lvl3pPr>
              <a:defRPr>
                <a:latin typeface="Gobold" panose="02000500000000000000"/>
              </a:defRPr>
            </a:lvl3pPr>
            <a:lvl4pPr>
              <a:defRPr>
                <a:latin typeface="Gobold" panose="02000500000000000000"/>
              </a:defRPr>
            </a:lvl4pPr>
            <a:lvl5pPr>
              <a:defRPr>
                <a:latin typeface="Gobold" panose="02000500000000000000"/>
              </a:defRPr>
            </a:lvl5pPr>
          </a:lstStyle>
          <a:p>
            <a:pPr lvl="0"/>
            <a:r>
              <a:rPr lang="pt-BR" dirty="0"/>
              <a:t>LOGO DO CLIENTE</a:t>
            </a:r>
          </a:p>
        </p:txBody>
      </p:sp>
      <p:sp>
        <p:nvSpPr>
          <p:cNvPr id="20" name="Espaço Reservado para Texto 16">
            <a:extLst>
              <a:ext uri="{FF2B5EF4-FFF2-40B4-BE49-F238E27FC236}">
                <a16:creationId xmlns:a16="http://schemas.microsoft.com/office/drawing/2014/main" id="{E0EF1D02-B3CD-C5D0-F3C7-132C13F7FC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29500" y="861261"/>
            <a:ext cx="942975" cy="673820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lang="pt-BR" sz="4400" kern="1200" dirty="0" smtClean="0">
                <a:solidFill>
                  <a:schemeClr val="bg1"/>
                </a:solidFill>
                <a:latin typeface="Gobold" panose="02000500000000000000" pitchFamily="2" charset="0"/>
                <a:ea typeface="+mn-ea"/>
                <a:cs typeface="+mn-cs"/>
              </a:defRPr>
            </a:lvl1pPr>
            <a:lvl2pPr marL="0" algn="l" defTabSz="914400" rtl="0" eaLnBrk="1" latinLnBrk="0" hangingPunct="1">
              <a:defRPr lang="pt-BR" sz="4400" kern="1200" dirty="0" smtClean="0">
                <a:solidFill>
                  <a:schemeClr val="bg1"/>
                </a:solidFill>
                <a:latin typeface="Gobold" panose="02000500000000000000" pitchFamily="2" charset="0"/>
                <a:ea typeface="+mn-ea"/>
                <a:cs typeface="+mn-cs"/>
              </a:defRPr>
            </a:lvl2pPr>
            <a:lvl3pPr marL="0" algn="l" defTabSz="914400" rtl="0" eaLnBrk="1" latinLnBrk="0" hangingPunct="1">
              <a:defRPr lang="pt-BR" sz="4400" kern="1200" dirty="0" smtClean="0">
                <a:solidFill>
                  <a:schemeClr val="bg1"/>
                </a:solidFill>
                <a:latin typeface="Gobold" panose="02000500000000000000" pitchFamily="2" charset="0"/>
                <a:ea typeface="+mn-ea"/>
                <a:cs typeface="+mn-cs"/>
              </a:defRPr>
            </a:lvl3pPr>
            <a:lvl4pPr marL="0" algn="l" defTabSz="914400" rtl="0" eaLnBrk="1" latinLnBrk="0" hangingPunct="1">
              <a:defRPr lang="pt-BR" sz="4400" kern="1200" dirty="0" smtClean="0">
                <a:solidFill>
                  <a:schemeClr val="bg1"/>
                </a:solidFill>
                <a:latin typeface="Gobold" panose="02000500000000000000" pitchFamily="2" charset="0"/>
                <a:ea typeface="+mn-ea"/>
                <a:cs typeface="+mn-cs"/>
              </a:defRPr>
            </a:lvl4pPr>
            <a:lvl5pPr marL="0" algn="l" defTabSz="914400" rtl="0" eaLnBrk="1" latinLnBrk="0" hangingPunct="1">
              <a:defRPr lang="pt-BR" sz="4400" kern="1200" dirty="0">
                <a:solidFill>
                  <a:schemeClr val="bg1"/>
                </a:solidFill>
                <a:latin typeface="Gobold" panose="02000500000000000000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pt-BR" dirty="0"/>
              <a:t>01.</a:t>
            </a:r>
          </a:p>
        </p:txBody>
      </p:sp>
      <p:sp>
        <p:nvSpPr>
          <p:cNvPr id="21" name="Espaço Reservado para Texto 18">
            <a:extLst>
              <a:ext uri="{FF2B5EF4-FFF2-40B4-BE49-F238E27FC236}">
                <a16:creationId xmlns:a16="http://schemas.microsoft.com/office/drawing/2014/main" id="{A5F5BCDF-30A3-B9A2-8097-BCF7A7AE6B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7881" y="1550255"/>
            <a:ext cx="4412666" cy="532038"/>
          </a:xfrm>
        </p:spPr>
        <p:txBody>
          <a:bodyPr>
            <a:noAutofit/>
          </a:bodyPr>
          <a:lstStyle>
            <a:lvl1pPr marL="0" indent="0">
              <a:buNone/>
              <a:defRPr lang="pt-BR" sz="3200" kern="1200" dirty="0" smtClean="0">
                <a:solidFill>
                  <a:schemeClr val="bg1"/>
                </a:solidFill>
                <a:latin typeface="Gobold" panose="020005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dirty="0"/>
              <a:t>título – Fonte </a:t>
            </a:r>
            <a:r>
              <a:rPr lang="pt-BR" dirty="0" err="1"/>
              <a:t>Gobold</a:t>
            </a:r>
            <a:endParaRPr lang="pt-BR" dirty="0"/>
          </a:p>
        </p:txBody>
      </p:sp>
      <p:sp>
        <p:nvSpPr>
          <p:cNvPr id="3" name="Espaço Reservado para Texto 18">
            <a:extLst>
              <a:ext uri="{FF2B5EF4-FFF2-40B4-BE49-F238E27FC236}">
                <a16:creationId xmlns:a16="http://schemas.microsoft.com/office/drawing/2014/main" id="{20C821EF-7471-3EDA-2138-A2A8502275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27881" y="2108526"/>
            <a:ext cx="4412666" cy="532038"/>
          </a:xfrm>
        </p:spPr>
        <p:txBody>
          <a:bodyPr>
            <a:noAutofit/>
          </a:bodyPr>
          <a:lstStyle>
            <a:lvl1pPr marL="0" indent="0">
              <a:buNone/>
              <a:defRPr lang="pt-BR" sz="1800" kern="1200" dirty="0" smtClean="0">
                <a:solidFill>
                  <a:schemeClr val="bg1"/>
                </a:solidFill>
                <a:latin typeface="Raleway" pitchFamily="2" charset="0"/>
                <a:ea typeface="+mn-ea"/>
                <a:cs typeface="Angsana New" panose="020B0502040204020203" pitchFamily="18" charset="-34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dirty="0"/>
              <a:t>Complemento – Fonte </a:t>
            </a:r>
            <a:r>
              <a:rPr lang="pt-BR" dirty="0" err="1"/>
              <a:t>Raleway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2297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Aplicativo&#10;&#10;Descrição gerada automaticamente">
            <a:extLst>
              <a:ext uri="{FF2B5EF4-FFF2-40B4-BE49-F238E27FC236}">
                <a16:creationId xmlns:a16="http://schemas.microsoft.com/office/drawing/2014/main" id="{E6A614E9-6826-9043-5BD1-BDD109A28C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19922C-CA18-20AE-6520-373096D9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21173537">
            <a:off x="11210924" y="5992957"/>
            <a:ext cx="668193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  <a:latin typeface="Raleway" pitchFamily="2" charset="0"/>
              </a:defRPr>
            </a:lvl1pPr>
          </a:lstStyle>
          <a:p>
            <a:fld id="{AD78F8EF-AD73-49BA-8349-CA3A518C48B4}" type="slidenum">
              <a:rPr lang="pt-PT" smtClean="0"/>
              <a:pPr/>
              <a:t>‹nº›</a:t>
            </a:fld>
            <a:endParaRPr lang="pt-PT" dirty="0"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2E4D7CC6-23FF-E506-C04F-BED5B09B5C0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884928" y="55416"/>
            <a:ext cx="2245014" cy="53570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rgbClr val="FF0000"/>
                </a:solidFill>
                <a:highlight>
                  <a:srgbClr val="FFFF00"/>
                </a:highlight>
                <a:latin typeface="Gobold"/>
              </a:defRPr>
            </a:lvl1pPr>
          </a:lstStyle>
          <a:p>
            <a:r>
              <a:rPr lang="pt-BR" dirty="0"/>
              <a:t>LOGO DO CLIENTE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C30EFF50-6D18-7848-D01D-8A6EA13C05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21" y="16932"/>
            <a:ext cx="6119754" cy="31341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Raleway" pitchFamily="2" charset="0"/>
              </a:defRPr>
            </a:lvl1pPr>
          </a:lstStyle>
          <a:p>
            <a:pPr lvl="0"/>
            <a:r>
              <a:rPr lang="pt-BR" dirty="0"/>
              <a:t>Título do Slide – Fonte </a:t>
            </a:r>
            <a:r>
              <a:rPr lang="pt-BR" dirty="0" err="1"/>
              <a:t>Raleway</a:t>
            </a:r>
            <a:r>
              <a:rPr lang="pt-BR" dirty="0"/>
              <a:t> Negrito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57C06B37-62AB-77DB-3B94-F2E90488AD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420" y="300999"/>
            <a:ext cx="6119753" cy="277535"/>
          </a:xfrm>
        </p:spPr>
        <p:txBody>
          <a:bodyPr>
            <a:noAutofit/>
          </a:bodyPr>
          <a:lstStyle>
            <a:lvl1pPr marL="0" indent="0">
              <a:buNone/>
              <a:defRPr lang="pt-BR" sz="1400" b="0" kern="1200" dirty="0">
                <a:solidFill>
                  <a:schemeClr val="bg1"/>
                </a:solidFill>
                <a:latin typeface="Raleway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dirty="0"/>
              <a:t>Subtítulo – Fonte </a:t>
            </a:r>
            <a:r>
              <a:rPr lang="pt-BR" dirty="0" err="1"/>
              <a:t>Raleway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731854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B31A874-9E74-ECAA-B6C4-A4AA77ED59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45719"/>
            <a:ext cx="12192000" cy="6812281"/>
          </a:xfrm>
          <a:prstGeom prst="rect">
            <a:avLst/>
          </a:prstGeom>
          <a:solidFill>
            <a:srgbClr val="EDEF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Uma imagem contendo Aplicativo&#10;&#10;Descrição gerada automaticamente">
            <a:extLst>
              <a:ext uri="{FF2B5EF4-FFF2-40B4-BE49-F238E27FC236}">
                <a16:creationId xmlns:a16="http://schemas.microsoft.com/office/drawing/2014/main" id="{E6A614E9-6826-9043-5BD1-BDD109A28C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6" b="90028"/>
          <a:stretch/>
        </p:blipFill>
        <p:spPr>
          <a:xfrm>
            <a:off x="0" y="0"/>
            <a:ext cx="12192000" cy="45719"/>
          </a:xfrm>
          <a:prstGeom prst="rect">
            <a:avLst/>
          </a:prstGeom>
        </p:spPr>
      </p:pic>
      <p:pic>
        <p:nvPicPr>
          <p:cNvPr id="10" name="Imagem 9" descr="Ícone&#10;&#10;Descrição gerada automaticamente com confiança média">
            <a:extLst>
              <a:ext uri="{FF2B5EF4-FFF2-40B4-BE49-F238E27FC236}">
                <a16:creationId xmlns:a16="http://schemas.microsoft.com/office/drawing/2014/main" id="{598338AF-37B5-04E0-6D1A-DCD8DD8D33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36042">
            <a:off x="10999539" y="6045621"/>
            <a:ext cx="1216724" cy="1005914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19922C-CA18-20AE-6520-373096D9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21173537">
            <a:off x="11210924" y="5992957"/>
            <a:ext cx="668193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  <a:latin typeface="Raleway" pitchFamily="2" charset="0"/>
              </a:defRPr>
            </a:lvl1pPr>
          </a:lstStyle>
          <a:p>
            <a:fld id="{AD78F8EF-AD73-49BA-8349-CA3A518C48B4}" type="slidenum">
              <a:rPr lang="pt-PT" smtClean="0"/>
              <a:pPr/>
              <a:t>‹nº›</a:t>
            </a:fld>
            <a:endParaRPr lang="pt-PT" dirty="0"/>
          </a:p>
        </p:txBody>
      </p:sp>
      <p:pic>
        <p:nvPicPr>
          <p:cNvPr id="12" name="Imagem 11" descr="Foto em preto e branco de computador&#10;&#10;Descrição gerada automaticamente">
            <a:extLst>
              <a:ext uri="{FF2B5EF4-FFF2-40B4-BE49-F238E27FC236}">
                <a16:creationId xmlns:a16="http://schemas.microsoft.com/office/drawing/2014/main" id="{A690BD77-7559-1AB4-860F-44E961CD24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08"/>
          <a:stretch/>
        </p:blipFill>
        <p:spPr>
          <a:xfrm>
            <a:off x="0" y="282706"/>
            <a:ext cx="1123950" cy="1315066"/>
          </a:xfrm>
          <a:prstGeom prst="rect">
            <a:avLst/>
          </a:prstGeom>
        </p:spPr>
      </p:pic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EBB0BE1A-9CEC-A33F-B049-A32A1E899C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3950" y="444631"/>
            <a:ext cx="7305675" cy="313414"/>
          </a:xfr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rgbClr val="323E56"/>
                </a:solidFill>
                <a:latin typeface="Raleway" pitchFamily="2" charset="0"/>
              </a:defRPr>
            </a:lvl1pPr>
          </a:lstStyle>
          <a:p>
            <a:pPr lvl="0"/>
            <a:r>
              <a:rPr lang="pt-BR" dirty="0"/>
              <a:t>Título do Slide – Fonte </a:t>
            </a:r>
            <a:r>
              <a:rPr lang="pt-BR" dirty="0" err="1"/>
              <a:t>Raleway</a:t>
            </a:r>
            <a:r>
              <a:rPr lang="pt-BR" dirty="0"/>
              <a:t> Negrito</a:t>
            </a:r>
          </a:p>
        </p:txBody>
      </p:sp>
    </p:spTree>
    <p:extLst>
      <p:ext uri="{BB962C8B-B14F-4D97-AF65-F5344CB8AC3E}">
        <p14:creationId xmlns:p14="http://schemas.microsoft.com/office/powerpoint/2010/main" val="139616487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A8E4BC9-FAC2-9A13-B086-8B0C0CC782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12191998" cy="6857998"/>
          </a:xfrm>
          <a:prstGeom prst="rect">
            <a:avLst/>
          </a:prstGeom>
        </p:spPr>
      </p:pic>
      <p:sp>
        <p:nvSpPr>
          <p:cNvPr id="12" name="Rounded Rectangle 1">
            <a:extLst>
              <a:ext uri="{FF2B5EF4-FFF2-40B4-BE49-F238E27FC236}">
                <a16:creationId xmlns:a16="http://schemas.microsoft.com/office/drawing/2014/main" id="{76640565-E022-8894-54A5-5681A9A5C42D}"/>
              </a:ext>
            </a:extLst>
          </p:cNvPr>
          <p:cNvSpPr/>
          <p:nvPr userDrawn="1"/>
        </p:nvSpPr>
        <p:spPr>
          <a:xfrm>
            <a:off x="7447107" y="1679383"/>
            <a:ext cx="2458893" cy="330741"/>
          </a:xfrm>
          <a:prstGeom prst="roundRect">
            <a:avLst/>
          </a:prstGeom>
          <a:gradFill flip="none" rotWithShape="1">
            <a:gsLst>
              <a:gs pos="100000">
                <a:srgbClr val="04ECAB"/>
              </a:gs>
              <a:gs pos="0">
                <a:srgbClr val="2C28FF"/>
              </a:gs>
              <a:gs pos="52000">
                <a:srgbClr val="2C80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01ED314F-505A-99A7-8CE1-A9A16E1B48B6}"/>
              </a:ext>
            </a:extLst>
          </p:cNvPr>
          <p:cNvSpPr/>
          <p:nvPr userDrawn="1"/>
        </p:nvSpPr>
        <p:spPr>
          <a:xfrm>
            <a:off x="7447107" y="2538919"/>
            <a:ext cx="3782868" cy="330741"/>
          </a:xfrm>
          <a:prstGeom prst="roundRect">
            <a:avLst/>
          </a:prstGeom>
          <a:gradFill flip="none" rotWithShape="1">
            <a:gsLst>
              <a:gs pos="100000">
                <a:srgbClr val="04ECAB"/>
              </a:gs>
              <a:gs pos="0">
                <a:srgbClr val="2C28FF"/>
              </a:gs>
              <a:gs pos="52000">
                <a:srgbClr val="2C80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FD2EB573-60AB-778A-C0C9-56A56B05BC84}"/>
              </a:ext>
            </a:extLst>
          </p:cNvPr>
          <p:cNvSpPr txBox="1"/>
          <p:nvPr userDrawn="1"/>
        </p:nvSpPr>
        <p:spPr>
          <a:xfrm>
            <a:off x="7447106" y="1310051"/>
            <a:ext cx="10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>
                <a:solidFill>
                  <a:srgbClr val="2C28FF"/>
                </a:solidFill>
                <a:latin typeface="+mn-lt"/>
              </a:rPr>
              <a:t>Site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368821A4-2203-6B6E-3B31-39CF161D197D}"/>
              </a:ext>
            </a:extLst>
          </p:cNvPr>
          <p:cNvSpPr txBox="1"/>
          <p:nvPr userDrawn="1"/>
        </p:nvSpPr>
        <p:spPr>
          <a:xfrm>
            <a:off x="7447106" y="2150131"/>
            <a:ext cx="10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>
                <a:solidFill>
                  <a:srgbClr val="2C28FF"/>
                </a:solidFill>
                <a:latin typeface="+mn-lt"/>
              </a:rPr>
              <a:t>Linkedin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D109343-5F9E-CD72-C720-D47595372B9A}"/>
              </a:ext>
            </a:extLst>
          </p:cNvPr>
          <p:cNvSpPr txBox="1"/>
          <p:nvPr userDrawn="1"/>
        </p:nvSpPr>
        <p:spPr>
          <a:xfrm>
            <a:off x="7542357" y="1671005"/>
            <a:ext cx="2267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+mj-lt"/>
              </a:rPr>
              <a:t>www.stepwise.com.br</a:t>
            </a:r>
            <a:endParaRPr lang="pt-PT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249FDB8-34B2-64B2-D1BC-D96754D5C5E4}"/>
              </a:ext>
            </a:extLst>
          </p:cNvPr>
          <p:cNvSpPr txBox="1"/>
          <p:nvPr userDrawn="1"/>
        </p:nvSpPr>
        <p:spPr>
          <a:xfrm>
            <a:off x="7447109" y="2539286"/>
            <a:ext cx="3876674" cy="3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1550" dirty="0">
                <a:solidFill>
                  <a:schemeClr val="bg1"/>
                </a:solidFill>
                <a:latin typeface="+mj-lt"/>
              </a:rPr>
              <a:t>www.linkedin.com/company/stepwise</a:t>
            </a:r>
          </a:p>
        </p:txBody>
      </p:sp>
      <p:sp>
        <p:nvSpPr>
          <p:cNvPr id="2" name="Espaço Reservado para Texto 14">
            <a:extLst>
              <a:ext uri="{FF2B5EF4-FFF2-40B4-BE49-F238E27FC236}">
                <a16:creationId xmlns:a16="http://schemas.microsoft.com/office/drawing/2014/main" id="{B4C90C0E-D5D8-EC09-2F40-24FCBF14A3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78262" y="4945255"/>
            <a:ext cx="2112241" cy="532039"/>
          </a:xfrm>
          <a:solidFill>
            <a:srgbClr val="E3E3E3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rgbClr val="FF0000"/>
                </a:solidFill>
                <a:latin typeface="Gobold" panose="02000500000000000000"/>
              </a:defRPr>
            </a:lvl1pPr>
            <a:lvl2pPr>
              <a:defRPr>
                <a:latin typeface="Gobold" panose="02000500000000000000"/>
              </a:defRPr>
            </a:lvl2pPr>
            <a:lvl3pPr>
              <a:defRPr>
                <a:latin typeface="Gobold" panose="02000500000000000000"/>
              </a:defRPr>
            </a:lvl3pPr>
            <a:lvl4pPr>
              <a:defRPr>
                <a:latin typeface="Gobold" panose="02000500000000000000"/>
              </a:defRPr>
            </a:lvl4pPr>
            <a:lvl5pPr>
              <a:defRPr>
                <a:latin typeface="Gobold" panose="02000500000000000000"/>
              </a:defRPr>
            </a:lvl5pPr>
          </a:lstStyle>
          <a:p>
            <a:pPr lvl="0"/>
            <a:r>
              <a:rPr lang="pt-BR" dirty="0"/>
              <a:t>LOGO DO CLIENTE</a:t>
            </a:r>
          </a:p>
        </p:txBody>
      </p:sp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528235C5-BE65-D0B8-C63F-1FE80E9009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2" b="25746"/>
          <a:stretch/>
        </p:blipFill>
        <p:spPr>
          <a:xfrm>
            <a:off x="9354820" y="5210777"/>
            <a:ext cx="3180081" cy="134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14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3683B-50AE-624D-C7D3-C498E1918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1318706-F83F-C488-532B-033377E0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17/04/2024</a:t>
            </a:fld>
            <a:endParaRPr lang="pt-PT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56A4213-8DC6-C67C-BDD7-27A1D93C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7E9108F-00CB-4BBE-083D-0D8C8061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368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7E01E-30EB-DAC4-F7F3-0D9119ECE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dirty="0"/>
              <a:t>Clique para editar o título Mestre</a:t>
            </a:r>
            <a:endParaRPr lang="pt-PT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D3A5E4-44AC-40EC-51DA-F04C674A4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952A1D-C728-6136-3B49-9F71AB1F0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2E9901-244F-B84A-161B-228A4003E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17/04/2024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0238B4-9F32-58D5-2210-FC900F0AC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353667-597C-06DF-6B4B-161703F6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51885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6FB05-33C6-6A07-7767-03A5D4347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0BABB72-D3D0-3DE6-7C22-055D3688BF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660A849-13EB-FD16-4EC4-94D7B56DF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D886A8-ECF5-41C8-60B6-34B92E90E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17/04/2024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56DA34-2345-975A-846A-F1EC7FE2B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00A947-6627-154F-CB52-EB3500E7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8809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BD369-574B-1079-E594-61B0D05D6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062F3E-E114-DD35-4836-C62A8B8B1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2BE1EE-29C3-0643-C311-91F88E5C6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17/04/2024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2A290B-99DC-0B85-D821-CAFCBA047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5CE86B-2A91-399C-F643-E647DD87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9381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284949-447F-87EA-5B46-A6A9AD776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C70BF0-A774-5BD4-2A70-63BA51120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8DF2EE-3472-41DA-E68F-F376A413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69EB6-ABE0-4BF0-9770-7FF652D43FAE}" type="datetimeFigureOut">
              <a:rPr lang="pt-PT" smtClean="0"/>
              <a:t>17/04/2024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8D1271-A3A4-040E-6D2D-CC7F6CA03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808075-732D-927D-FB14-8EFAC88F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57592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78CDF-E4F0-209F-7FE4-21D31CB7F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1C8E3F-0ABC-AC03-F556-43563F6C8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C50098-BBF8-7E4B-0141-0E782EB7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6A321-E797-4B52-A750-A2E05A88141B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876DBB-488B-381C-BAC1-87F8DDCA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96937B-6165-8B3C-4629-9A5A9282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9532B-2C60-40E1-9CF1-24934010F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2978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65F19C-4880-77E6-AF62-950D0CA7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F19E7E-B35D-8DB5-0287-D6BA26ED4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EF4B3B-BBE1-3490-51E2-D77941BE6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6A321-E797-4B52-A750-A2E05A88141B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858A72-F881-217F-D515-7C0EA097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6074C4-3DA1-82E3-1D2F-418C5301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9532B-2C60-40E1-9CF1-24934010F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930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98341-952C-36D7-AD70-187589F71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7AFE7C-A310-609F-670A-1736918AB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A21732-7394-3396-4318-D5997C0D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6A321-E797-4B52-A750-A2E05A88141B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2D52E0-6D9A-9458-4348-F6F98FECA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4AD42D-D6F1-6A3F-8BB9-D6D10B3C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9532B-2C60-40E1-9CF1-24934010F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858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043DF-6150-79EF-476C-3D240B92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628CB7-A6EA-4B3A-A00E-0E6AB26BB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168450-7386-7C27-F144-47A9E3924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5D8107-C854-B4CE-6347-760FEE697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6A321-E797-4B52-A750-A2E05A88141B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4F9C08-8C4F-3D64-D12D-C41F757E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6CBC0F-49C1-98D2-E89A-438D3AD6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9532B-2C60-40E1-9CF1-24934010F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3359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D3F44-0D05-392B-CFB9-2DDF77E62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6DACD4-D0F4-E581-C05B-6E1ADB0AF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336EEB-138E-59D0-F9C7-3B3AB5D07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640C262-3E0E-85E6-40EF-7671706CD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4A1476E-03B7-D21B-0E28-FD9DC59EB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5843061-1224-77BB-A8D9-3D8532947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6A321-E797-4B52-A750-A2E05A88141B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5D63E5B-CECE-3846-CF05-18FE843F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5FB8747-D565-8940-8FC3-7081BB1F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9532B-2C60-40E1-9CF1-24934010F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49719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02ED3-2E2C-9845-E22F-0E755798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3C4D7B-B4A7-7AAE-20BD-F0DCF7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6A321-E797-4B52-A750-A2E05A88141B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D3FE94-DFDD-4664-8F70-33D9A840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82ABB90-E482-B79D-4813-5ECE2149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9532B-2C60-40E1-9CF1-24934010F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126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555F9FF-060F-8DE8-81FF-BA7692300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6A321-E797-4B52-A750-A2E05A88141B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50D20C7-0477-6E3E-ECC7-C3D2F7E50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423E9C-8901-B505-8833-D9EA077B4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9532B-2C60-40E1-9CF1-24934010F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11273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6D13B-03C8-DBF0-42E7-104A2B91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A3036D-BC6A-ED78-168D-CA360BA54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B5BD44-BBEB-1E07-E89E-E578B76A2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09BDD4-E1C4-8ED4-E543-0F663794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6A321-E797-4B52-A750-A2E05A88141B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E469-32C9-AC53-D2EB-726CB7239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952FE9-E678-961D-B249-D91353AC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9532B-2C60-40E1-9CF1-24934010F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32087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78240-D8CE-106B-49BA-CE1D6BED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A940B3C-5B3F-675B-0BD2-8BC3F8F57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F8921F-10D5-424B-3384-14A0B559A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E4FF6D-F519-EB9A-E11C-D08DE7C2E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6A321-E797-4B52-A750-A2E05A88141B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9655E0-ADD3-55C6-DC7A-94EEF3B06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95E268-A869-998E-213B-278877C8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9532B-2C60-40E1-9CF1-24934010F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814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58CEB7-8B1D-7770-F8EB-3F5CA8255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485BC6-B18F-834D-7B7F-29934E814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6B0A61-7121-E993-944C-F063E964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6A321-E797-4B52-A750-A2E05A88141B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439DF8-1298-0D89-BBF0-515F2E25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F6585C-0B03-6A95-F5CF-3A18032BE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9532B-2C60-40E1-9CF1-24934010F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46518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26AF30C-DB42-76CE-BF6D-0863A57E4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0FEC935-571C-3EA2-4C3B-AA6707515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962E4D-C47F-EBE1-6CAE-F27B43B69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6A321-E797-4B52-A750-A2E05A88141B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72A5AC-6B8C-A173-826B-2102401FB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03F92C-5462-4A39-613E-22B627DB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9532B-2C60-40E1-9CF1-24934010F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250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1092B3B-652C-8663-4E76-D882D86B6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  <a:endParaRPr lang="pt-PT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13B8D3-E866-5EC7-05F3-53CCFF9A5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pt-PT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56D29E-6A32-6F01-4306-0D86C29547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69EB6-ABE0-4BF0-9770-7FF652D43FAE}" type="datetimeFigureOut">
              <a:rPr lang="pt-PT" smtClean="0"/>
              <a:t>17/04/2024</a:t>
            </a:fld>
            <a:endParaRPr lang="pt-PT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21D701-EE77-3971-7428-4B526F822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27F4FE-C988-9575-7DBD-EA809D2F3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8F8EF-AD73-49BA-8349-CA3A518C48B4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4185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72" r:id="rId6"/>
    <p:sldLayoutId id="2147483653" r:id="rId7"/>
    <p:sldLayoutId id="2147483654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B3411BA-8EE7-B8C5-FD46-9F031553F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12CBD2-B045-DCDC-278B-E60AE84F4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FBBAA3-DEFE-8F22-B22D-E5EC8193D2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6A321-E797-4B52-A750-A2E05A88141B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FCA548-F367-2B7B-5E29-93589973A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89539C-F6E1-1A6D-F4CB-0F90DD2A2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9532B-2C60-40E1-9CF1-24934010FC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0700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xpeducacao.com.br/dados-semiestruturados/" TargetMode="External"/><Relationship Id="rId2" Type="http://schemas.openxmlformats.org/officeDocument/2006/relationships/hyperlink" Target="https://blog.xpeducacao.com.br/bancos-de-dados-nosql/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pt-br/office/xml-para-iniciantes-a87d234d-4c2e-4409-9cbc-45e4eb857d44" TargetMode="External"/><Relationship Id="rId2" Type="http://schemas.openxmlformats.org/officeDocument/2006/relationships/hyperlink" Target="https://en.wikipedia.org/wiki/XML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en.wikipedia.org/wiki/JSON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pt.wikipedia.org/wiki/Comma-separated_values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pt.wikipedia.org/wiki/YAML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ache/parquet-format" TargetMode="External"/><Relationship Id="rId2" Type="http://schemas.openxmlformats.org/officeDocument/2006/relationships/hyperlink" Target="https://en.wikipedia.org/wiki/Apache_Parquet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vro.apache.org/docs/1.11.1/specification/_print/" TargetMode="External"/><Relationship Id="rId2" Type="http://schemas.openxmlformats.org/officeDocument/2006/relationships/hyperlink" Target="https://en.wikipedia.org/wiki/Apache_Avro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rrow.apache.org/docs/python/feather.html" TargetMode="Externa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sri.com/content/dam/esrisites/sitecore-archive/Files/Pdfs/library/whitepapers/pdfs/shapefile.pdf" TargetMode="External"/><Relationship Id="rId2" Type="http://schemas.openxmlformats.org/officeDocument/2006/relationships/hyperlink" Target="https://geoparquet.org/releases/v1.0.0/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9026A-387E-16D5-1033-816ADC628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Introdução a linguagem R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E28EF602-5EFC-80E3-0254-2026376BCE44}"/>
              </a:ext>
            </a:extLst>
          </p:cNvPr>
          <p:cNvCxnSpPr>
            <a:cxnSpLocks/>
          </p:cNvCxnSpPr>
          <p:nvPr/>
        </p:nvCxnSpPr>
        <p:spPr>
          <a:xfrm flipH="1" flipV="1">
            <a:off x="7343192" y="5886820"/>
            <a:ext cx="1082351" cy="372907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Imagem 6" descr="Logotipo, Ícone&#10;&#10;Descrição gerada automaticamente">
            <a:extLst>
              <a:ext uri="{FF2B5EF4-FFF2-40B4-BE49-F238E27FC236}">
                <a16:creationId xmlns:a16="http://schemas.microsoft.com/office/drawing/2014/main" id="{3A9A2A42-F2D3-C423-8F36-B78EDA714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940" y="4776255"/>
            <a:ext cx="1043188" cy="80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890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AB6B2B45-9898-B2A8-4585-D78E8A2EB99F}"/>
              </a:ext>
            </a:extLst>
          </p:cNvPr>
          <p:cNvSpPr txBox="1"/>
          <p:nvPr/>
        </p:nvSpPr>
        <p:spPr>
          <a:xfrm>
            <a:off x="4143984" y="1067316"/>
            <a:ext cx="3803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323E56"/>
                </a:solidFill>
                <a:latin typeface="+mj-lt"/>
              </a:rPr>
              <a:t>Conteúdo</a:t>
            </a:r>
            <a:endParaRPr lang="pt-BR" sz="3200" dirty="0">
              <a:solidFill>
                <a:srgbClr val="323E56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BEFCCA8-5E0D-1CA8-FE4C-78238745C6DF}"/>
              </a:ext>
            </a:extLst>
          </p:cNvPr>
          <p:cNvSpPr txBox="1"/>
          <p:nvPr/>
        </p:nvSpPr>
        <p:spPr>
          <a:xfrm>
            <a:off x="4143984" y="1951672"/>
            <a:ext cx="75353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DiN" panose="020B0604020202020204" charset="0"/>
              </a:rPr>
              <a:t>Introdução a lógica de programação;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DiN" panose="020B0604020202020204" charset="0"/>
              </a:rPr>
              <a:t>Introdução a linguagem de programação R;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latin typeface="DiN" panose="020B0604020202020204" charset="0"/>
              </a:rPr>
              <a:t>Variáveis;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latin typeface="DiN" panose="020B0604020202020204" charset="0"/>
              </a:rPr>
              <a:t>Estruturas de controle;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latin typeface="DiN" panose="020B0604020202020204" charset="0"/>
              </a:rPr>
              <a:t>Estruturas de repetição;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latin typeface="DiN" panose="020B0604020202020204" charset="0"/>
              </a:rPr>
              <a:t>Estruturas de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1" dirty="0" err="1">
                <a:latin typeface="DiN" panose="020B0604020202020204" charset="0"/>
              </a:rPr>
              <a:t>Backends</a:t>
            </a:r>
            <a:r>
              <a:rPr lang="pt-BR" b="1" dirty="0">
                <a:latin typeface="DiN" panose="020B0604020202020204" charset="0"/>
              </a:rPr>
              <a:t> </a:t>
            </a:r>
            <a:r>
              <a:rPr lang="pt-BR" b="1" dirty="0" err="1">
                <a:latin typeface="DiN" panose="020B0604020202020204" charset="0"/>
              </a:rPr>
              <a:t>dplyr</a:t>
            </a:r>
            <a:r>
              <a:rPr lang="pt-BR" b="1" dirty="0">
                <a:latin typeface="DiN" panose="020B0604020202020204" charset="0"/>
              </a:rPr>
              <a:t>: </a:t>
            </a:r>
            <a:r>
              <a:rPr lang="pt-BR" b="1" dirty="0" err="1">
                <a:latin typeface="DiN" panose="020B0604020202020204" charset="0"/>
              </a:rPr>
              <a:t>dbplyr</a:t>
            </a:r>
            <a:r>
              <a:rPr lang="pt-BR" b="1" dirty="0">
                <a:latin typeface="DiN" panose="020B0604020202020204" charset="0"/>
              </a:rPr>
              <a:t>, </a:t>
            </a:r>
            <a:r>
              <a:rPr lang="pt-BR" b="1" dirty="0" err="1">
                <a:latin typeface="DiN" panose="020B0604020202020204" charset="0"/>
              </a:rPr>
              <a:t>dtplyr</a:t>
            </a:r>
            <a:r>
              <a:rPr lang="pt-BR" b="1" dirty="0">
                <a:latin typeface="DiN" panose="020B0604020202020204" charset="0"/>
              </a:rPr>
              <a:t> e </a:t>
            </a:r>
            <a:r>
              <a:rPr lang="pt-BR" b="1" dirty="0" err="1">
                <a:latin typeface="DiN" panose="020B0604020202020204" charset="0"/>
              </a:rPr>
              <a:t>arrow</a:t>
            </a:r>
            <a:endParaRPr lang="pt-BR" b="1" dirty="0">
              <a:latin typeface="DiN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DiN" panose="020B0604020202020204" charset="0"/>
              </a:rPr>
              <a:t>Pacotes </a:t>
            </a:r>
            <a:r>
              <a:rPr lang="pt-BR" dirty="0" err="1">
                <a:latin typeface="DiN" panose="020B0604020202020204" charset="0"/>
              </a:rPr>
              <a:t>Tidyverse</a:t>
            </a:r>
            <a:endParaRPr lang="pt-BR" dirty="0">
              <a:latin typeface="DiN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DiN" panose="020B0604020202020204" charset="0"/>
              </a:rPr>
              <a:t>Extraindo valor de dados;</a:t>
            </a:r>
            <a:endParaRPr lang="pt-BR" b="1" dirty="0">
              <a:latin typeface="DiN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latin typeface="DiN" panose="020B0604020202020204" charset="0"/>
              </a:rPr>
              <a:t>Ferramentas modernas para dados: </a:t>
            </a:r>
            <a:r>
              <a:rPr lang="pt-BR" dirty="0" err="1">
                <a:latin typeface="DiN" panose="020B0604020202020204" charset="0"/>
              </a:rPr>
              <a:t>Polars</a:t>
            </a:r>
            <a:r>
              <a:rPr lang="pt-BR" dirty="0">
                <a:latin typeface="DiN" panose="020B0604020202020204" charset="0"/>
              </a:rPr>
              <a:t> e </a:t>
            </a:r>
            <a:r>
              <a:rPr lang="pt-BR" dirty="0" err="1">
                <a:latin typeface="DiN" panose="020B0604020202020204" charset="0"/>
              </a:rPr>
              <a:t>DuckDB</a:t>
            </a:r>
            <a:endParaRPr lang="pt-BR" dirty="0">
              <a:latin typeface="DiN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latin typeface="DiN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latin typeface="DiN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064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02985B-5D03-CFF2-3BDF-F7034B0D0F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86475D-F526-B0E3-9954-1F4C039C32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/>
              <a:t>Tipos de Dados</a:t>
            </a:r>
          </a:p>
        </p:txBody>
      </p:sp>
      <p:pic>
        <p:nvPicPr>
          <p:cNvPr id="2" name="Imagem 1" descr="Logotipo, Ícone&#10;&#10;Descrição gerada automaticamente">
            <a:extLst>
              <a:ext uri="{FF2B5EF4-FFF2-40B4-BE49-F238E27FC236}">
                <a16:creationId xmlns:a16="http://schemas.microsoft.com/office/drawing/2014/main" id="{EA49E255-B869-B479-AF2B-0676604F3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758" y="3695601"/>
            <a:ext cx="1043188" cy="80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4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0BD66D1-29D7-51E2-2BAC-9D326CD6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pPr/>
              <a:t>4</a:t>
            </a:fld>
            <a:endParaRPr lang="pt-PT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76B6E0-9526-82A9-77B8-5580055F93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21" y="16932"/>
            <a:ext cx="6119754" cy="615366"/>
          </a:xfrm>
        </p:spPr>
        <p:txBody>
          <a:bodyPr anchor="ctr"/>
          <a:lstStyle/>
          <a:p>
            <a:r>
              <a:rPr lang="pt-BR" sz="2400" dirty="0"/>
              <a:t>Tipos de dados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C382B20-3032-B5C8-0D1A-E594EC63C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144164"/>
              </p:ext>
            </p:extLst>
          </p:nvPr>
        </p:nvGraphicFramePr>
        <p:xfrm>
          <a:off x="867694" y="1249016"/>
          <a:ext cx="10456612" cy="4359967"/>
        </p:xfrm>
        <a:graphic>
          <a:graphicData uri="http://schemas.openxmlformats.org/drawingml/2006/table">
            <a:tbl>
              <a:tblPr/>
              <a:tblGrid>
                <a:gridCol w="2614153">
                  <a:extLst>
                    <a:ext uri="{9D8B030D-6E8A-4147-A177-3AD203B41FA5}">
                      <a16:colId xmlns:a16="http://schemas.microsoft.com/office/drawing/2014/main" val="4279469351"/>
                    </a:ext>
                  </a:extLst>
                </a:gridCol>
                <a:gridCol w="2614153">
                  <a:extLst>
                    <a:ext uri="{9D8B030D-6E8A-4147-A177-3AD203B41FA5}">
                      <a16:colId xmlns:a16="http://schemas.microsoft.com/office/drawing/2014/main" val="631420386"/>
                    </a:ext>
                  </a:extLst>
                </a:gridCol>
                <a:gridCol w="2614153">
                  <a:extLst>
                    <a:ext uri="{9D8B030D-6E8A-4147-A177-3AD203B41FA5}">
                      <a16:colId xmlns:a16="http://schemas.microsoft.com/office/drawing/2014/main" val="3748184958"/>
                    </a:ext>
                  </a:extLst>
                </a:gridCol>
                <a:gridCol w="2614153">
                  <a:extLst>
                    <a:ext uri="{9D8B030D-6E8A-4147-A177-3AD203B41FA5}">
                      <a16:colId xmlns:a16="http://schemas.microsoft.com/office/drawing/2014/main" val="2651064419"/>
                    </a:ext>
                  </a:extLst>
                </a:gridCol>
              </a:tblGrid>
              <a:tr h="517856">
                <a:tc>
                  <a:txBody>
                    <a:bodyPr/>
                    <a:lstStyle/>
                    <a:p>
                      <a:r>
                        <a:rPr lang="pt-BR" sz="1600" b="1">
                          <a:effectLst/>
                        </a:rPr>
                        <a:t>Característica</a:t>
                      </a:r>
                      <a:endParaRPr lang="pt-BR" sz="1600">
                        <a:effectLst/>
                      </a:endParaRP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>
                          <a:effectLst/>
                        </a:rPr>
                        <a:t>Dados Estruturados</a:t>
                      </a:r>
                      <a:endParaRPr lang="pt-BR" sz="1600">
                        <a:effectLst/>
                      </a:endParaRP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>
                          <a:effectLst/>
                        </a:rPr>
                        <a:t>Dados Não Estruturados</a:t>
                      </a:r>
                      <a:endParaRPr lang="pt-BR" sz="1600">
                        <a:effectLst/>
                      </a:endParaRP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>
                          <a:effectLst/>
                        </a:rPr>
                        <a:t>Dados Semiestruturados</a:t>
                      </a:r>
                      <a:endParaRPr lang="pt-BR" sz="1600">
                        <a:effectLst/>
                      </a:endParaRP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390786"/>
                  </a:ext>
                </a:extLst>
              </a:tr>
              <a:tr h="759971">
                <a:tc>
                  <a:txBody>
                    <a:bodyPr/>
                    <a:lstStyle/>
                    <a:p>
                      <a:r>
                        <a:rPr lang="pt-BR" sz="1600" b="1">
                          <a:effectLst/>
                        </a:rPr>
                        <a:t>Natureza</a:t>
                      </a:r>
                      <a:endParaRPr lang="pt-BR" sz="1600">
                        <a:effectLst/>
                      </a:endParaRP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Usualmente quantitativa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Usualmente qualitativa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Pode ser quantitativa e qualitativa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749066"/>
                  </a:ext>
                </a:extLst>
              </a:tr>
              <a:tr h="759971">
                <a:tc>
                  <a:txBody>
                    <a:bodyPr/>
                    <a:lstStyle/>
                    <a:p>
                      <a:r>
                        <a:rPr lang="pt-BR" sz="1600" b="1">
                          <a:effectLst/>
                        </a:rPr>
                        <a:t>Modelo</a:t>
                      </a:r>
                      <a:endParaRPr lang="pt-BR" sz="1600">
                        <a:effectLst/>
                      </a:endParaRP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Predefinido e é difícil alterá-lo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Modelo bem flexível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Tem flexibilidade, mas também possui estrutura 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53371"/>
                  </a:ext>
                </a:extLst>
              </a:tr>
              <a:tr h="517856">
                <a:tc>
                  <a:txBody>
                    <a:bodyPr/>
                    <a:lstStyle/>
                    <a:p>
                      <a:r>
                        <a:rPr lang="pt-BR" sz="1600" b="1">
                          <a:effectLst/>
                        </a:rPr>
                        <a:t>Formato</a:t>
                      </a:r>
                      <a:endParaRPr lang="pt-BR" sz="1600">
                        <a:effectLst/>
                      </a:endParaRP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Número limitado de formato de dados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Grande variedade de formatos de dados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Diversa variedade de formatos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104684"/>
                  </a:ext>
                </a:extLst>
              </a:tr>
              <a:tr h="517856">
                <a:tc>
                  <a:txBody>
                    <a:bodyPr/>
                    <a:lstStyle/>
                    <a:p>
                      <a:r>
                        <a:rPr lang="pt-BR" sz="1600" b="1">
                          <a:effectLst/>
                        </a:rPr>
                        <a:t>Banco de dados</a:t>
                      </a:r>
                      <a:endParaRPr lang="pt-BR" sz="1600">
                        <a:effectLst/>
                      </a:endParaRP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Bancos baseados em SQL são utilizados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u="none" strike="noStrike">
                          <a:effectLst/>
                          <a:hlinkClick r:id="rId2"/>
                        </a:rPr>
                        <a:t>Bancos de dados NoSQL</a:t>
                      </a:r>
                      <a:endParaRPr lang="pt-BR" sz="1600">
                        <a:effectLst/>
                      </a:endParaRP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</a:rPr>
                        <a:t>Bancos de dados relacionais 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860353"/>
                  </a:ext>
                </a:extLst>
              </a:tr>
              <a:tr h="1002085">
                <a:tc>
                  <a:txBody>
                    <a:bodyPr/>
                    <a:lstStyle/>
                    <a:p>
                      <a:r>
                        <a:rPr lang="pt-BR" sz="1600" b="1">
                          <a:effectLst/>
                        </a:rPr>
                        <a:t>Pesquisa</a:t>
                      </a:r>
                      <a:endParaRPr lang="pt-BR" sz="1600">
                        <a:effectLst/>
                      </a:endParaRP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Fácil e rápido para localizar e pesquisar esses dados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Como não tem estruturas, é muito difícil procurar esses dados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Pesquisa difícil, mas não tanto quanto nos não estruturados 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283805"/>
                  </a:ext>
                </a:extLst>
              </a:tr>
              <a:tr h="275742">
                <a:tc>
                  <a:txBody>
                    <a:bodyPr/>
                    <a:lstStyle/>
                    <a:p>
                      <a:r>
                        <a:rPr lang="pt-BR" sz="1600" b="1">
                          <a:effectLst/>
                        </a:rPr>
                        <a:t>Análise</a:t>
                      </a:r>
                      <a:endParaRPr lang="pt-BR" sz="1600">
                        <a:effectLst/>
                      </a:endParaRP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Fácil análise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>
                          <a:effectLst/>
                        </a:rPr>
                        <a:t>Análise difícil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</a:rPr>
                        <a:t>Análise difícil</a:t>
                      </a:r>
                    </a:p>
                  </a:txBody>
                  <a:tcPr marL="67254" marR="67254" marT="16814" marB="1681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722554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2F2B6B08-D801-529A-2C22-900021820CD5}"/>
              </a:ext>
            </a:extLst>
          </p:cNvPr>
          <p:cNvSpPr txBox="1"/>
          <p:nvPr/>
        </p:nvSpPr>
        <p:spPr>
          <a:xfrm>
            <a:off x="233421" y="6028687"/>
            <a:ext cx="7493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3"/>
              </a:rPr>
              <a:t>O que são dados semiestruturados e como organizá-los? (xpeducacao.com.br)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5789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02985B-5D03-CFF2-3BDF-F7034B0D0F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86475D-F526-B0E3-9954-1F4C039C32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/>
              <a:t>Tipos de Arquivos</a:t>
            </a:r>
          </a:p>
        </p:txBody>
      </p:sp>
      <p:pic>
        <p:nvPicPr>
          <p:cNvPr id="2" name="Imagem 1" descr="Logotipo, Ícone&#10;&#10;Descrição gerada automaticamente">
            <a:extLst>
              <a:ext uri="{FF2B5EF4-FFF2-40B4-BE49-F238E27FC236}">
                <a16:creationId xmlns:a16="http://schemas.microsoft.com/office/drawing/2014/main" id="{EA49E255-B869-B479-AF2B-0676604F3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758" y="3695601"/>
            <a:ext cx="1043188" cy="80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02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0BD66D1-29D7-51E2-2BAC-9D326CD6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pPr/>
              <a:t>6</a:t>
            </a:fld>
            <a:endParaRPr lang="pt-PT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76B6E0-9526-82A9-77B8-5580055F93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21" y="16932"/>
            <a:ext cx="6119754" cy="615366"/>
          </a:xfrm>
        </p:spPr>
        <p:txBody>
          <a:bodyPr anchor="ctr"/>
          <a:lstStyle/>
          <a:p>
            <a:r>
              <a:rPr lang="pt-BR" sz="2400" dirty="0"/>
              <a:t>XML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0AB9EE-F414-BE00-AE32-8865551BD2D0}"/>
              </a:ext>
            </a:extLst>
          </p:cNvPr>
          <p:cNvSpPr txBox="1"/>
          <p:nvPr/>
        </p:nvSpPr>
        <p:spPr>
          <a:xfrm>
            <a:off x="233421" y="6028687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2"/>
              </a:rPr>
              <a:t>XML - Wikipedia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1466299-DF9E-F769-3CBA-F141DB8DD9B8}"/>
              </a:ext>
            </a:extLst>
          </p:cNvPr>
          <p:cNvSpPr txBox="1"/>
          <p:nvPr/>
        </p:nvSpPr>
        <p:spPr>
          <a:xfrm>
            <a:off x="6096000" y="931867"/>
            <a:ext cx="5891356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breakfast_menu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&gt;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&lt;food&gt;</a:t>
            </a:r>
          </a:p>
          <a:p>
            <a:pPr lvl="2"/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&lt;name&gt;</a:t>
            </a:r>
          </a:p>
          <a:p>
            <a:pPr lvl="2"/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Belgian Waffles</a:t>
            </a:r>
          </a:p>
          <a:p>
            <a:pPr lvl="2"/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&lt;/name&gt;</a:t>
            </a:r>
          </a:p>
          <a:p>
            <a:pPr lvl="2"/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&lt;price&gt;</a:t>
            </a:r>
          </a:p>
          <a:p>
            <a:pPr lvl="2"/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$5.95</a:t>
            </a:r>
          </a:p>
          <a:p>
            <a:pPr lvl="2"/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&lt;/price&gt;</a:t>
            </a:r>
          </a:p>
          <a:p>
            <a:pPr lvl="2"/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&lt;description&gt;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Two of our famous Belgian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Waffles with plenty of real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maple syrup</a:t>
            </a:r>
          </a:p>
          <a:p>
            <a:pPr lvl="2"/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&lt;/description&gt;</a:t>
            </a:r>
          </a:p>
          <a:p>
            <a:pPr lvl="2"/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&lt;calories&gt;</a:t>
            </a:r>
          </a:p>
          <a:p>
            <a:pPr lvl="2"/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650</a:t>
            </a:r>
          </a:p>
          <a:p>
            <a:pPr lvl="2"/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&lt;/calories&gt;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&lt;/food&gt;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breakfast_menu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&gt;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E1E087-AA42-3667-7FF3-85107C1B3B55}"/>
              </a:ext>
            </a:extLst>
          </p:cNvPr>
          <p:cNvSpPr txBox="1"/>
          <p:nvPr/>
        </p:nvSpPr>
        <p:spPr>
          <a:xfrm>
            <a:off x="233421" y="5659355"/>
            <a:ext cx="4173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3"/>
              </a:rPr>
              <a:t>XML para iniciantes - Suporte da Microsoft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8939C5-B6CB-C7DE-DC7A-8F8767398CDB}"/>
              </a:ext>
            </a:extLst>
          </p:cNvPr>
          <p:cNvSpPr txBox="1"/>
          <p:nvPr/>
        </p:nvSpPr>
        <p:spPr>
          <a:xfrm>
            <a:off x="233421" y="2505670"/>
            <a:ext cx="481689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Formato não-binário: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Representa informações a partir de elementos</a:t>
            </a:r>
            <a:br>
              <a:rPr lang="pt-BR" dirty="0"/>
            </a:br>
            <a:r>
              <a:rPr lang="pt-BR" dirty="0"/>
              <a:t>definidos por ‘</a:t>
            </a:r>
            <a:r>
              <a:rPr lang="pt-BR" dirty="0" err="1"/>
              <a:t>tags</a:t>
            </a:r>
            <a:r>
              <a:rPr lang="pt-BR" dirty="0"/>
              <a:t>’;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Possui um </a:t>
            </a:r>
            <a:r>
              <a:rPr lang="pt-BR" dirty="0" err="1"/>
              <a:t>schema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busca por valores neste tipo de arquivo </a:t>
            </a:r>
            <a:br>
              <a:rPr lang="pt-BR" dirty="0"/>
            </a:br>
            <a:r>
              <a:rPr lang="pt-BR" dirty="0"/>
              <a:t>pode ser complexa.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4535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0BD66D1-29D7-51E2-2BAC-9D326CD6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pPr/>
              <a:t>7</a:t>
            </a:fld>
            <a:endParaRPr lang="pt-PT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76B6E0-9526-82A9-77B8-5580055F93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21" y="16932"/>
            <a:ext cx="6119754" cy="615366"/>
          </a:xfrm>
        </p:spPr>
        <p:txBody>
          <a:bodyPr anchor="ctr"/>
          <a:lstStyle/>
          <a:p>
            <a:r>
              <a:rPr lang="pt-BR" sz="2400" dirty="0"/>
              <a:t>JSON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70FA36-FBC2-0716-DDB0-723D852B118C}"/>
              </a:ext>
            </a:extLst>
          </p:cNvPr>
          <p:cNvSpPr txBox="1"/>
          <p:nvPr/>
        </p:nvSpPr>
        <p:spPr>
          <a:xfrm>
            <a:off x="233421" y="6028687"/>
            <a:ext cx="1870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linkClick r:id="rId2"/>
              </a:rPr>
              <a:t>JSON - Wikipedia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A8DB6F7-CB5E-2769-F4F1-ACE5F004ACD8}"/>
              </a:ext>
            </a:extLst>
          </p:cNvPr>
          <p:cNvSpPr txBox="1"/>
          <p:nvPr/>
        </p:nvSpPr>
        <p:spPr>
          <a:xfrm>
            <a:off x="233421" y="2505670"/>
            <a:ext cx="498290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Formato não-binário: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Representa informações a partir de elementos</a:t>
            </a:r>
            <a:br>
              <a:rPr lang="pt-BR" dirty="0"/>
            </a:br>
            <a:r>
              <a:rPr lang="pt-BR" dirty="0"/>
              <a:t>definidos por ‘nós’;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busca por valores neste tipo de arquivo </a:t>
            </a:r>
            <a:br>
              <a:rPr lang="pt-BR" dirty="0"/>
            </a:br>
            <a:r>
              <a:rPr lang="pt-BR" dirty="0"/>
              <a:t>pode ser complexa;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Buscas efetivas podem depender de bibliotecas.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745EA40-3614-0F5F-4C26-C70C8C500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56" y="1137908"/>
            <a:ext cx="6087183" cy="458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36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0BD66D1-29D7-51E2-2BAC-9D326CD6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pPr/>
              <a:t>8</a:t>
            </a:fld>
            <a:endParaRPr lang="pt-PT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76B6E0-9526-82A9-77B8-5580055F93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21" y="16932"/>
            <a:ext cx="6119754" cy="615366"/>
          </a:xfrm>
        </p:spPr>
        <p:txBody>
          <a:bodyPr anchor="ctr"/>
          <a:lstStyle/>
          <a:p>
            <a:r>
              <a:rPr lang="pt-BR" sz="2400" dirty="0"/>
              <a:t>CSV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AF88BBA-6643-7546-9A07-EBA347623B57}"/>
              </a:ext>
            </a:extLst>
          </p:cNvPr>
          <p:cNvSpPr txBox="1"/>
          <p:nvPr/>
        </p:nvSpPr>
        <p:spPr>
          <a:xfrm>
            <a:off x="233421" y="6028687"/>
            <a:ext cx="7085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hlinkClick r:id="rId2"/>
              </a:rPr>
              <a:t>Comma-separated</a:t>
            </a:r>
            <a:r>
              <a:rPr lang="pt-BR" dirty="0">
                <a:hlinkClick r:id="rId2"/>
              </a:rPr>
              <a:t> </a:t>
            </a:r>
            <a:r>
              <a:rPr lang="pt-BR" dirty="0" err="1">
                <a:hlinkClick r:id="rId2"/>
              </a:rPr>
              <a:t>values</a:t>
            </a:r>
            <a:r>
              <a:rPr lang="pt-BR" dirty="0">
                <a:hlinkClick r:id="rId2"/>
              </a:rPr>
              <a:t> – Wikipédia, a enciclopédia livre (wikipedia.org)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4E3513D-5B08-0AC7-14DA-E49B9D373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380" y="1809524"/>
            <a:ext cx="6020640" cy="323895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6811533-15E0-80F7-0A0C-DDA0C686586D}"/>
              </a:ext>
            </a:extLst>
          </p:cNvPr>
          <p:cNvSpPr txBox="1"/>
          <p:nvPr/>
        </p:nvSpPr>
        <p:spPr>
          <a:xfrm>
            <a:off x="233421" y="2505670"/>
            <a:ext cx="537576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Formato não-binário: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Representa informações a partir valores separados</a:t>
            </a:r>
            <a:br>
              <a:rPr lang="pt-BR" dirty="0"/>
            </a:br>
            <a:r>
              <a:rPr lang="pt-BR" dirty="0"/>
              <a:t>por virgula;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Pode ter uma estrutura tabular;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Pode ter uma estrutura baseada em tamanhos fixos;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Relativamente efetivo para a análise;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Tamanho do arquivo pode ser um impeditivo.</a:t>
            </a:r>
          </a:p>
        </p:txBody>
      </p:sp>
    </p:spTree>
    <p:extLst>
      <p:ext uri="{BB962C8B-B14F-4D97-AF65-F5344CB8AC3E}">
        <p14:creationId xmlns:p14="http://schemas.microsoft.com/office/powerpoint/2010/main" val="3681246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0BD66D1-29D7-51E2-2BAC-9D326CD6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pPr/>
              <a:t>9</a:t>
            </a:fld>
            <a:endParaRPr lang="pt-PT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76B6E0-9526-82A9-77B8-5580055F93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21" y="16932"/>
            <a:ext cx="6119754" cy="615366"/>
          </a:xfrm>
        </p:spPr>
        <p:txBody>
          <a:bodyPr anchor="ctr"/>
          <a:lstStyle/>
          <a:p>
            <a:r>
              <a:rPr lang="pt-BR" sz="2400" dirty="0"/>
              <a:t>YAML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4354AD8-97BE-A013-8DAA-80EFB38F1A59}"/>
              </a:ext>
            </a:extLst>
          </p:cNvPr>
          <p:cNvSpPr txBox="1"/>
          <p:nvPr/>
        </p:nvSpPr>
        <p:spPr>
          <a:xfrm>
            <a:off x="233421" y="6028687"/>
            <a:ext cx="5236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2"/>
              </a:rPr>
              <a:t>YAML – Wikipédia, a enciclopédia livre (wikipedia.org)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1ADD3AB-A625-22F1-97BD-5EADB3A9E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553" y="1833340"/>
            <a:ext cx="4096322" cy="319132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9C0C0DB-1305-3FCD-878C-3DD2577768E6}"/>
              </a:ext>
            </a:extLst>
          </p:cNvPr>
          <p:cNvSpPr txBox="1"/>
          <p:nvPr/>
        </p:nvSpPr>
        <p:spPr>
          <a:xfrm>
            <a:off x="233421" y="2505670"/>
            <a:ext cx="58312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Formato não-binário: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Representa informações a partir valores indentados;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Frequentemente utilizado para arquivos de configuração.</a:t>
            </a:r>
          </a:p>
        </p:txBody>
      </p:sp>
    </p:spTree>
    <p:extLst>
      <p:ext uri="{BB962C8B-B14F-4D97-AF65-F5344CB8AC3E}">
        <p14:creationId xmlns:p14="http://schemas.microsoft.com/office/powerpoint/2010/main" val="327566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0BD66D1-29D7-51E2-2BAC-9D326CD6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pPr/>
              <a:t>10</a:t>
            </a:fld>
            <a:endParaRPr lang="pt-PT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76B6E0-9526-82A9-77B8-5580055F93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21" y="16932"/>
            <a:ext cx="6119754" cy="615366"/>
          </a:xfrm>
        </p:spPr>
        <p:txBody>
          <a:bodyPr anchor="ctr"/>
          <a:lstStyle/>
          <a:p>
            <a:r>
              <a:rPr lang="pt-BR" sz="2400" dirty="0"/>
              <a:t>Parquet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433D9AA-C1E8-C5EA-6919-F8ED9BEC5A4F}"/>
              </a:ext>
            </a:extLst>
          </p:cNvPr>
          <p:cNvSpPr txBox="1"/>
          <p:nvPr/>
        </p:nvSpPr>
        <p:spPr>
          <a:xfrm>
            <a:off x="233421" y="6028687"/>
            <a:ext cx="2788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2"/>
              </a:rPr>
              <a:t>Apache Parquet - Wikipedia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9D35B58-5C83-FCBD-8764-7EC2F0B66025}"/>
              </a:ext>
            </a:extLst>
          </p:cNvPr>
          <p:cNvSpPr txBox="1"/>
          <p:nvPr/>
        </p:nvSpPr>
        <p:spPr>
          <a:xfrm>
            <a:off x="233421" y="5659355"/>
            <a:ext cx="526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linkClick r:id="rId3"/>
              </a:rPr>
              <a:t>apache/parquet-format: Apache Parquet (github.com)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81E143-218A-13BE-F065-0277A16902AB}"/>
              </a:ext>
            </a:extLst>
          </p:cNvPr>
          <p:cNvSpPr txBox="1"/>
          <p:nvPr/>
        </p:nvSpPr>
        <p:spPr>
          <a:xfrm>
            <a:off x="233421" y="2268663"/>
            <a:ext cx="42003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Arquivo binário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Otimizado para leitura;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Comum em ambientes Spark e </a:t>
            </a:r>
            <a:r>
              <a:rPr lang="pt-BR" dirty="0" err="1"/>
              <a:t>Hadoop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Formato popular em soluções </a:t>
            </a:r>
            <a:r>
              <a:rPr lang="pt-BR" dirty="0" err="1"/>
              <a:t>BigData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Compatível com formatos de tabela </a:t>
            </a:r>
            <a:br>
              <a:rPr lang="pt-BR" dirty="0"/>
            </a:br>
            <a:r>
              <a:rPr lang="pt-BR" dirty="0"/>
              <a:t>Iceberg, </a:t>
            </a:r>
            <a:r>
              <a:rPr lang="pt-BR" dirty="0" err="1"/>
              <a:t>Hudi</a:t>
            </a:r>
            <a:r>
              <a:rPr lang="pt-BR" dirty="0"/>
              <a:t> e Delta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102235A-41DA-E960-41F6-CD6A03BC7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236" y="1152525"/>
            <a:ext cx="5724525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769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0BD66D1-29D7-51E2-2BAC-9D326CD6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pPr/>
              <a:t>11</a:t>
            </a:fld>
            <a:endParaRPr lang="pt-PT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76B6E0-9526-82A9-77B8-5580055F93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21" y="16932"/>
            <a:ext cx="6119754" cy="615366"/>
          </a:xfrm>
        </p:spPr>
        <p:txBody>
          <a:bodyPr anchor="ctr"/>
          <a:lstStyle/>
          <a:p>
            <a:r>
              <a:rPr lang="pt-BR" sz="2400" dirty="0" err="1"/>
              <a:t>Avro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5378E00-6269-B813-BD34-D11239FDFA11}"/>
              </a:ext>
            </a:extLst>
          </p:cNvPr>
          <p:cNvSpPr txBox="1"/>
          <p:nvPr/>
        </p:nvSpPr>
        <p:spPr>
          <a:xfrm>
            <a:off x="233421" y="6028687"/>
            <a:ext cx="2483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2"/>
              </a:rPr>
              <a:t>Apache </a:t>
            </a:r>
            <a:r>
              <a:rPr lang="pt-BR" dirty="0" err="1">
                <a:hlinkClick r:id="rId2"/>
              </a:rPr>
              <a:t>Avro</a:t>
            </a:r>
            <a:r>
              <a:rPr lang="pt-BR" dirty="0">
                <a:hlinkClick r:id="rId2"/>
              </a:rPr>
              <a:t> - Wikipedia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423AFA8-D288-57A5-AA96-8E2B945D4E3C}"/>
              </a:ext>
            </a:extLst>
          </p:cNvPr>
          <p:cNvSpPr txBox="1"/>
          <p:nvPr/>
        </p:nvSpPr>
        <p:spPr>
          <a:xfrm>
            <a:off x="233421" y="5659355"/>
            <a:ext cx="2775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hlinkClick r:id="rId3"/>
              </a:rPr>
              <a:t>Specification</a:t>
            </a:r>
            <a:r>
              <a:rPr lang="pt-BR" dirty="0">
                <a:hlinkClick r:id="rId3"/>
              </a:rPr>
              <a:t> | Apache </a:t>
            </a:r>
            <a:r>
              <a:rPr lang="pt-BR" dirty="0" err="1">
                <a:hlinkClick r:id="rId3"/>
              </a:rPr>
              <a:t>Avro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FDDA92-0CC3-271D-1EF7-187C68A06016}"/>
              </a:ext>
            </a:extLst>
          </p:cNvPr>
          <p:cNvSpPr txBox="1"/>
          <p:nvPr/>
        </p:nvSpPr>
        <p:spPr>
          <a:xfrm>
            <a:off x="233421" y="2268663"/>
            <a:ext cx="42003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Arquivo binário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Otimizado para escrita;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Comum em ambientes Spark e </a:t>
            </a:r>
            <a:r>
              <a:rPr lang="pt-BR" dirty="0" err="1"/>
              <a:t>Hadoop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Formato utilizado em soluções </a:t>
            </a:r>
            <a:r>
              <a:rPr lang="pt-BR" dirty="0" err="1"/>
              <a:t>BigData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3728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0BD66D1-29D7-51E2-2BAC-9D326CD6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pPr/>
              <a:t>12</a:t>
            </a:fld>
            <a:endParaRPr lang="pt-PT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76B6E0-9526-82A9-77B8-5580055F93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21" y="16932"/>
            <a:ext cx="6119754" cy="615366"/>
          </a:xfrm>
        </p:spPr>
        <p:txBody>
          <a:bodyPr anchor="ctr"/>
          <a:lstStyle/>
          <a:p>
            <a:r>
              <a:rPr lang="pt-BR" sz="2400" dirty="0" err="1"/>
              <a:t>Feather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BA3D81-93B7-0745-B31E-459919B4E3C3}"/>
              </a:ext>
            </a:extLst>
          </p:cNvPr>
          <p:cNvSpPr txBox="1"/>
          <p:nvPr/>
        </p:nvSpPr>
        <p:spPr>
          <a:xfrm>
            <a:off x="233421" y="6028687"/>
            <a:ext cx="4396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Feather File Format — Apache Arrow v15.0.2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1DE4A5-B8B1-BDB0-766C-1C47201C3E5B}"/>
              </a:ext>
            </a:extLst>
          </p:cNvPr>
          <p:cNvSpPr txBox="1"/>
          <p:nvPr/>
        </p:nvSpPr>
        <p:spPr>
          <a:xfrm>
            <a:off x="233421" y="2268663"/>
            <a:ext cx="75940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Arquivo binário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Pensado para ser uma solução agnóstica de armazenamento de </a:t>
            </a:r>
            <a:r>
              <a:rPr lang="pt-BR" dirty="0" err="1"/>
              <a:t>DataFrames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Pensado para aprimorar a comunicação R e Python;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Não é muito popular e não possui documentação extensiva;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Baseado na implementação IPC do Apache Arrow.</a:t>
            </a:r>
          </a:p>
        </p:txBody>
      </p:sp>
    </p:spTree>
    <p:extLst>
      <p:ext uri="{BB962C8B-B14F-4D97-AF65-F5344CB8AC3E}">
        <p14:creationId xmlns:p14="http://schemas.microsoft.com/office/powerpoint/2010/main" val="1479779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0BD66D1-29D7-51E2-2BAC-9D326CD6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pPr/>
              <a:t>13</a:t>
            </a:fld>
            <a:endParaRPr lang="pt-PT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76B6E0-9526-82A9-77B8-5580055F93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21" y="16932"/>
            <a:ext cx="6119754" cy="615366"/>
          </a:xfrm>
        </p:spPr>
        <p:txBody>
          <a:bodyPr anchor="ctr"/>
          <a:lstStyle/>
          <a:p>
            <a:r>
              <a:rPr lang="pt-BR" sz="2400" dirty="0"/>
              <a:t>Shape e </a:t>
            </a:r>
            <a:r>
              <a:rPr lang="pt-BR" sz="2400" dirty="0" err="1"/>
              <a:t>GeoParquet</a:t>
            </a: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1DE4A5-B8B1-BDB0-766C-1C47201C3E5B}"/>
              </a:ext>
            </a:extLst>
          </p:cNvPr>
          <p:cNvSpPr txBox="1"/>
          <p:nvPr/>
        </p:nvSpPr>
        <p:spPr>
          <a:xfrm>
            <a:off x="233421" y="2268663"/>
            <a:ext cx="594726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Arquivo binário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Arquivos voltados a representação de dados geográficos;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IBGE disponibiliza diversas informações no formato SHP;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Arquivos </a:t>
            </a:r>
            <a:r>
              <a:rPr lang="pt-BR" dirty="0" err="1"/>
              <a:t>GeoParquet</a:t>
            </a:r>
            <a:r>
              <a:rPr lang="pt-BR" dirty="0"/>
              <a:t> podem ser utilizados em ambientes</a:t>
            </a:r>
            <a:br>
              <a:rPr lang="pt-BR" dirty="0"/>
            </a:br>
            <a:r>
              <a:rPr lang="pt-BR" dirty="0"/>
              <a:t>de Big Data, que já possuam componentes Spark ou </a:t>
            </a:r>
            <a:r>
              <a:rPr lang="pt-BR" dirty="0" err="1"/>
              <a:t>Flink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Arquivos Shape são excelentes para representar polígonos.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1200016-ACAB-58BD-702A-337B64F32943}"/>
              </a:ext>
            </a:extLst>
          </p:cNvPr>
          <p:cNvSpPr txBox="1"/>
          <p:nvPr/>
        </p:nvSpPr>
        <p:spPr>
          <a:xfrm>
            <a:off x="233421" y="6028687"/>
            <a:ext cx="3253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2"/>
              </a:rPr>
              <a:t>geoparquet.org/releases/v1.0.0/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0D4963-C400-5D22-2628-627A14B7C93F}"/>
              </a:ext>
            </a:extLst>
          </p:cNvPr>
          <p:cNvSpPr txBox="1"/>
          <p:nvPr/>
        </p:nvSpPr>
        <p:spPr>
          <a:xfrm>
            <a:off x="233421" y="5659355"/>
            <a:ext cx="3540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3"/>
              </a:rPr>
              <a:t>ESRI </a:t>
            </a:r>
            <a:r>
              <a:rPr lang="pt-BR" dirty="0" err="1">
                <a:hlinkClick r:id="rId3"/>
              </a:rPr>
              <a:t>Shapefile</a:t>
            </a:r>
            <a:r>
              <a:rPr lang="pt-BR" dirty="0">
                <a:hlinkClick r:id="rId3"/>
              </a:rPr>
              <a:t> </a:t>
            </a:r>
            <a:r>
              <a:rPr lang="pt-BR" dirty="0" err="1">
                <a:hlinkClick r:id="rId3"/>
              </a:rPr>
              <a:t>Technical</a:t>
            </a:r>
            <a:r>
              <a:rPr lang="pt-BR" dirty="0">
                <a:hlinkClick r:id="rId3"/>
              </a:rPr>
              <a:t> </a:t>
            </a:r>
            <a:r>
              <a:rPr lang="pt-BR" dirty="0" err="1">
                <a:hlinkClick r:id="rId3"/>
              </a:rPr>
              <a:t>Description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118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0BD66D1-29D7-51E2-2BAC-9D326CD6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8F8EF-AD73-49BA-8349-CA3A518C48B4}" type="slidenum">
              <a:rPr lang="pt-PT" smtClean="0"/>
              <a:pPr/>
              <a:t>14</a:t>
            </a:fld>
            <a:endParaRPr lang="pt-PT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76B6E0-9526-82A9-77B8-5580055F93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21" y="16932"/>
            <a:ext cx="6119754" cy="615366"/>
          </a:xfrm>
        </p:spPr>
        <p:txBody>
          <a:bodyPr anchor="ctr"/>
          <a:lstStyle/>
          <a:p>
            <a:r>
              <a:rPr lang="pt-BR" sz="2400" dirty="0"/>
              <a:t>Avaliação Tardia</a:t>
            </a:r>
          </a:p>
        </p:txBody>
      </p:sp>
    </p:spTree>
    <p:extLst>
      <p:ext uri="{BB962C8B-B14F-4D97-AF65-F5344CB8AC3E}">
        <p14:creationId xmlns:p14="http://schemas.microsoft.com/office/powerpoint/2010/main" val="472325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7155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a 2">
      <a:majorFont>
        <a:latin typeface="Raleway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A5F0E94F0AF5840B88100ECA062DAA4" ma:contentTypeVersion="17" ma:contentTypeDescription="Crie um novo documento." ma:contentTypeScope="" ma:versionID="356ad33b58a086a63ca2ce1ed9f845b8">
  <xsd:schema xmlns:xsd="http://www.w3.org/2001/XMLSchema" xmlns:xs="http://www.w3.org/2001/XMLSchema" xmlns:p="http://schemas.microsoft.com/office/2006/metadata/properties" xmlns:ns2="aaa66e33-fa01-4ae6-8609-ebb9fdb5c96b" xmlns:ns3="3ddadd9a-1469-4088-bffb-741804bca10e" targetNamespace="http://schemas.microsoft.com/office/2006/metadata/properties" ma:root="true" ma:fieldsID="d6ceb61b77e65144e0bc34b075175e64" ns2:_="" ns3:_="">
    <xsd:import namespace="aaa66e33-fa01-4ae6-8609-ebb9fdb5c96b"/>
    <xsd:import namespace="3ddadd9a-1469-4088-bffb-741804bca1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a66e33-fa01-4ae6-8609-ebb9fdb5c9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01739230-c919-42e8-be66-3d2534b6b3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dadd9a-1469-4088-bffb-741804bca10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a01301c-3cf1-44ac-849a-39fc12585df0}" ma:internalName="TaxCatchAll" ma:showField="CatchAllData" ma:web="3ddadd9a-1469-4088-bffb-741804bca1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a66e33-fa01-4ae6-8609-ebb9fdb5c96b">
      <Terms xmlns="http://schemas.microsoft.com/office/infopath/2007/PartnerControls"/>
    </lcf76f155ced4ddcb4097134ff3c332f>
    <TaxCatchAll xmlns="3ddadd9a-1469-4088-bffb-741804bca10e" xsi:nil="true"/>
  </documentManagement>
</p:properties>
</file>

<file path=customXml/itemProps1.xml><?xml version="1.0" encoding="utf-8"?>
<ds:datastoreItem xmlns:ds="http://schemas.openxmlformats.org/officeDocument/2006/customXml" ds:itemID="{F7339EBE-074B-4B43-9321-638288F0CF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a66e33-fa01-4ae6-8609-ebb9fdb5c96b"/>
    <ds:schemaRef ds:uri="3ddadd9a-1469-4088-bffb-741804bca1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B446A2-A829-4306-AC94-DAF82F2AD6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59D27F-DE0C-4EE5-BEE4-FDD10F708E02}">
  <ds:schemaRefs>
    <ds:schemaRef ds:uri="http://schemas.microsoft.com/office/2006/metadata/properties"/>
    <ds:schemaRef ds:uri="http://schemas.microsoft.com/office/infopath/2007/PartnerControls"/>
    <ds:schemaRef ds:uri="aaa66e33-fa01-4ae6-8609-ebb9fdb5c96b"/>
    <ds:schemaRef ds:uri="3ddadd9a-1469-4088-bffb-741804bca10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2306</TotalTime>
  <Words>609</Words>
  <Application>Microsoft Office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Raleway</vt:lpstr>
      <vt:lpstr>Calibri Light</vt:lpstr>
      <vt:lpstr>Courier New</vt:lpstr>
      <vt:lpstr>Arial</vt:lpstr>
      <vt:lpstr>Calibri</vt:lpstr>
      <vt:lpstr>DiN</vt:lpstr>
      <vt:lpstr>Gobold</vt:lpstr>
      <vt:lpstr>Tema do Office</vt:lpstr>
      <vt:lpstr>Personalizar design</vt:lpstr>
      <vt:lpstr>Introdução a linguagem 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Marangoni</dc:creator>
  <cp:keywords>StepWise</cp:keywords>
  <cp:lastModifiedBy>Renato Fileto</cp:lastModifiedBy>
  <cp:revision>48</cp:revision>
  <dcterms:created xsi:type="dcterms:W3CDTF">2022-07-12T19:42:48Z</dcterms:created>
  <dcterms:modified xsi:type="dcterms:W3CDTF">2024-04-17T21:26:03Z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0x010100CA5F0E94F0AF5840B88100ECA062DAA4</vt:lpwstr>
  </property>
</Properties>
</file>